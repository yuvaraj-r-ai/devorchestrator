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448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Fill in the project title, team name, one-line pitch, your track, and every member's name and registration number. Delete the four tracks you are not competing on so only your track is left. Do not change the layout, colours or logos.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of your pitch. One clear paragraph. The four prompts below the box are what a judge will look for inside your answer — you do not need to answer them separately.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of your pitch. Be concrete. Avoid phrases like "AI-powered platform" — say what it does and for whom.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of your pitch. The diagram carries this slide — draw it even if it is rough. Name real services and models, not categories.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of your pitch. Judges reward honesty. Name the limitation before they find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of your pitch. Replace 00% with your headline figure and say how you measured it. An estimate is fine if you show the working.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of your pitch. Uncredited work is disqualifying. List everything you leaned on and be clear about what you wrote yourselves.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1B"/>
        </a:solidFill>
        <a:effectLst/>
      </p:bgPr>
    </p:bg>
    <p:spTree>
      <p:nvGrpSpPr>
        <p:cNvPr id="1" name=""/>
        <p:cNvGrpSpPr/>
        <p:nvPr/>
      </p:nvGrpSpPr>
      <p:grpSpPr>
        <a:xfrm>
          <a:off x="0" y="0"/>
          <a:ext cx="0" cy="0"/>
          <a:chOff x="0" y="0"/>
          <a:chExt cx="0" cy="0"/>
        </a:xfrm>
      </p:grpSpPr>
      <p:sp>
        <p:nvSpPr>
          <p:cNvPr id="2" name="Shape 0"/>
          <p:cNvSpPr/>
          <p:nvPr/>
        </p:nvSpPr>
        <p:spPr>
          <a:xfrm>
            <a:off x="502920" y="0"/>
            <a:ext cx="0" cy="6858000"/>
          </a:xfrm>
          <a:prstGeom prst="line">
            <a:avLst/>
          </a:prstGeom>
          <a:noFill/>
          <a:ln w="6350">
            <a:solidFill>
              <a:srgbClr val="1A2331"/>
            </a:solidFill>
            <a:prstDash val="solid"/>
          </a:ln>
        </p:spPr>
        <p:txBody>
          <a:bodyPr/>
          <a:lstStyle/>
          <a:p>
            <a:endParaRPr lang="en-IN"/>
          </a:p>
        </p:txBody>
      </p:sp>
      <p:sp>
        <p:nvSpPr>
          <p:cNvPr id="3" name="Shape 1"/>
          <p:cNvSpPr/>
          <p:nvPr/>
        </p:nvSpPr>
        <p:spPr>
          <a:xfrm>
            <a:off x="1005840" y="0"/>
            <a:ext cx="0" cy="6858000"/>
          </a:xfrm>
          <a:prstGeom prst="line">
            <a:avLst/>
          </a:prstGeom>
          <a:noFill/>
          <a:ln w="6350">
            <a:solidFill>
              <a:srgbClr val="1A2331"/>
            </a:solidFill>
            <a:prstDash val="solid"/>
          </a:ln>
        </p:spPr>
        <p:txBody>
          <a:bodyPr/>
          <a:lstStyle/>
          <a:p>
            <a:endParaRPr lang="en-IN"/>
          </a:p>
        </p:txBody>
      </p:sp>
      <p:sp>
        <p:nvSpPr>
          <p:cNvPr id="4" name="Shape 2"/>
          <p:cNvSpPr/>
          <p:nvPr/>
        </p:nvSpPr>
        <p:spPr>
          <a:xfrm>
            <a:off x="1508760" y="0"/>
            <a:ext cx="0" cy="6858000"/>
          </a:xfrm>
          <a:prstGeom prst="line">
            <a:avLst/>
          </a:prstGeom>
          <a:noFill/>
          <a:ln w="6350">
            <a:solidFill>
              <a:srgbClr val="1A2331"/>
            </a:solidFill>
            <a:prstDash val="solid"/>
          </a:ln>
        </p:spPr>
        <p:txBody>
          <a:bodyPr/>
          <a:lstStyle/>
          <a:p>
            <a:endParaRPr lang="en-IN"/>
          </a:p>
        </p:txBody>
      </p:sp>
      <p:sp>
        <p:nvSpPr>
          <p:cNvPr id="5" name="Shape 3"/>
          <p:cNvSpPr/>
          <p:nvPr/>
        </p:nvSpPr>
        <p:spPr>
          <a:xfrm>
            <a:off x="2011680" y="0"/>
            <a:ext cx="0" cy="6858000"/>
          </a:xfrm>
          <a:prstGeom prst="line">
            <a:avLst/>
          </a:prstGeom>
          <a:noFill/>
          <a:ln w="6350">
            <a:solidFill>
              <a:srgbClr val="1A2331"/>
            </a:solidFill>
            <a:prstDash val="solid"/>
          </a:ln>
        </p:spPr>
        <p:txBody>
          <a:bodyPr/>
          <a:lstStyle/>
          <a:p>
            <a:endParaRPr lang="en-IN"/>
          </a:p>
        </p:txBody>
      </p:sp>
      <p:sp>
        <p:nvSpPr>
          <p:cNvPr id="6" name="Shape 4"/>
          <p:cNvSpPr/>
          <p:nvPr/>
        </p:nvSpPr>
        <p:spPr>
          <a:xfrm>
            <a:off x="2514600" y="0"/>
            <a:ext cx="0" cy="6858000"/>
          </a:xfrm>
          <a:prstGeom prst="line">
            <a:avLst/>
          </a:prstGeom>
          <a:noFill/>
          <a:ln w="6350">
            <a:solidFill>
              <a:srgbClr val="1A2331"/>
            </a:solidFill>
            <a:prstDash val="solid"/>
          </a:ln>
        </p:spPr>
        <p:txBody>
          <a:bodyPr/>
          <a:lstStyle/>
          <a:p>
            <a:endParaRPr lang="en-IN"/>
          </a:p>
        </p:txBody>
      </p:sp>
      <p:sp>
        <p:nvSpPr>
          <p:cNvPr id="7" name="Shape 5"/>
          <p:cNvSpPr/>
          <p:nvPr/>
        </p:nvSpPr>
        <p:spPr>
          <a:xfrm>
            <a:off x="3017520" y="0"/>
            <a:ext cx="0" cy="6858000"/>
          </a:xfrm>
          <a:prstGeom prst="line">
            <a:avLst/>
          </a:prstGeom>
          <a:noFill/>
          <a:ln w="6350">
            <a:solidFill>
              <a:srgbClr val="1A2331"/>
            </a:solidFill>
            <a:prstDash val="solid"/>
          </a:ln>
        </p:spPr>
        <p:txBody>
          <a:bodyPr/>
          <a:lstStyle/>
          <a:p>
            <a:endParaRPr lang="en-IN"/>
          </a:p>
        </p:txBody>
      </p:sp>
      <p:sp>
        <p:nvSpPr>
          <p:cNvPr id="8" name="Shape 6"/>
          <p:cNvSpPr/>
          <p:nvPr/>
        </p:nvSpPr>
        <p:spPr>
          <a:xfrm>
            <a:off x="3520440" y="0"/>
            <a:ext cx="0" cy="6858000"/>
          </a:xfrm>
          <a:prstGeom prst="line">
            <a:avLst/>
          </a:prstGeom>
          <a:noFill/>
          <a:ln w="6350">
            <a:solidFill>
              <a:srgbClr val="1A2331"/>
            </a:solidFill>
            <a:prstDash val="solid"/>
          </a:ln>
        </p:spPr>
        <p:txBody>
          <a:bodyPr/>
          <a:lstStyle/>
          <a:p>
            <a:endParaRPr lang="en-IN"/>
          </a:p>
        </p:txBody>
      </p:sp>
      <p:sp>
        <p:nvSpPr>
          <p:cNvPr id="9" name="Shape 7"/>
          <p:cNvSpPr/>
          <p:nvPr/>
        </p:nvSpPr>
        <p:spPr>
          <a:xfrm>
            <a:off x="4023360" y="0"/>
            <a:ext cx="0" cy="6858000"/>
          </a:xfrm>
          <a:prstGeom prst="line">
            <a:avLst/>
          </a:prstGeom>
          <a:noFill/>
          <a:ln w="6350">
            <a:solidFill>
              <a:srgbClr val="1A2331"/>
            </a:solidFill>
            <a:prstDash val="solid"/>
          </a:ln>
        </p:spPr>
        <p:txBody>
          <a:bodyPr/>
          <a:lstStyle/>
          <a:p>
            <a:endParaRPr lang="en-IN"/>
          </a:p>
        </p:txBody>
      </p:sp>
      <p:sp>
        <p:nvSpPr>
          <p:cNvPr id="10" name="Shape 8"/>
          <p:cNvSpPr/>
          <p:nvPr/>
        </p:nvSpPr>
        <p:spPr>
          <a:xfrm>
            <a:off x="4526280" y="0"/>
            <a:ext cx="0" cy="6858000"/>
          </a:xfrm>
          <a:prstGeom prst="line">
            <a:avLst/>
          </a:prstGeom>
          <a:noFill/>
          <a:ln w="6350">
            <a:solidFill>
              <a:srgbClr val="1A2331"/>
            </a:solidFill>
            <a:prstDash val="solid"/>
          </a:ln>
        </p:spPr>
        <p:txBody>
          <a:bodyPr/>
          <a:lstStyle/>
          <a:p>
            <a:endParaRPr lang="en-IN"/>
          </a:p>
        </p:txBody>
      </p:sp>
      <p:sp>
        <p:nvSpPr>
          <p:cNvPr id="11" name="Shape 9"/>
          <p:cNvSpPr/>
          <p:nvPr/>
        </p:nvSpPr>
        <p:spPr>
          <a:xfrm>
            <a:off x="5029200" y="0"/>
            <a:ext cx="0" cy="6858000"/>
          </a:xfrm>
          <a:prstGeom prst="line">
            <a:avLst/>
          </a:prstGeom>
          <a:noFill/>
          <a:ln w="6350">
            <a:solidFill>
              <a:srgbClr val="1A2331"/>
            </a:solidFill>
            <a:prstDash val="solid"/>
          </a:ln>
        </p:spPr>
        <p:txBody>
          <a:bodyPr/>
          <a:lstStyle/>
          <a:p>
            <a:endParaRPr lang="en-IN"/>
          </a:p>
        </p:txBody>
      </p:sp>
      <p:sp>
        <p:nvSpPr>
          <p:cNvPr id="12" name="Shape 10"/>
          <p:cNvSpPr/>
          <p:nvPr/>
        </p:nvSpPr>
        <p:spPr>
          <a:xfrm>
            <a:off x="5532120" y="0"/>
            <a:ext cx="0" cy="6858000"/>
          </a:xfrm>
          <a:prstGeom prst="line">
            <a:avLst/>
          </a:prstGeom>
          <a:noFill/>
          <a:ln w="6350">
            <a:solidFill>
              <a:srgbClr val="1A2331"/>
            </a:solidFill>
            <a:prstDash val="solid"/>
          </a:ln>
        </p:spPr>
        <p:txBody>
          <a:bodyPr/>
          <a:lstStyle/>
          <a:p>
            <a:endParaRPr lang="en-IN"/>
          </a:p>
        </p:txBody>
      </p:sp>
      <p:sp>
        <p:nvSpPr>
          <p:cNvPr id="13" name="Shape 11"/>
          <p:cNvSpPr/>
          <p:nvPr/>
        </p:nvSpPr>
        <p:spPr>
          <a:xfrm>
            <a:off x="6035040" y="0"/>
            <a:ext cx="0" cy="6858000"/>
          </a:xfrm>
          <a:prstGeom prst="line">
            <a:avLst/>
          </a:prstGeom>
          <a:noFill/>
          <a:ln w="6350">
            <a:solidFill>
              <a:srgbClr val="1A2331"/>
            </a:solidFill>
            <a:prstDash val="solid"/>
          </a:ln>
        </p:spPr>
        <p:txBody>
          <a:bodyPr/>
          <a:lstStyle/>
          <a:p>
            <a:endParaRPr lang="en-IN"/>
          </a:p>
        </p:txBody>
      </p:sp>
      <p:sp>
        <p:nvSpPr>
          <p:cNvPr id="14" name="Shape 12"/>
          <p:cNvSpPr/>
          <p:nvPr/>
        </p:nvSpPr>
        <p:spPr>
          <a:xfrm>
            <a:off x="6537960" y="0"/>
            <a:ext cx="0" cy="6858000"/>
          </a:xfrm>
          <a:prstGeom prst="line">
            <a:avLst/>
          </a:prstGeom>
          <a:noFill/>
          <a:ln w="6350">
            <a:solidFill>
              <a:srgbClr val="1A2331"/>
            </a:solidFill>
            <a:prstDash val="solid"/>
          </a:ln>
        </p:spPr>
        <p:txBody>
          <a:bodyPr/>
          <a:lstStyle/>
          <a:p>
            <a:endParaRPr lang="en-IN"/>
          </a:p>
        </p:txBody>
      </p:sp>
      <p:sp>
        <p:nvSpPr>
          <p:cNvPr id="15" name="Shape 13"/>
          <p:cNvSpPr/>
          <p:nvPr/>
        </p:nvSpPr>
        <p:spPr>
          <a:xfrm>
            <a:off x="7040880" y="0"/>
            <a:ext cx="0" cy="6858000"/>
          </a:xfrm>
          <a:prstGeom prst="line">
            <a:avLst/>
          </a:prstGeom>
          <a:noFill/>
          <a:ln w="6350">
            <a:solidFill>
              <a:srgbClr val="1A2331"/>
            </a:solidFill>
            <a:prstDash val="solid"/>
          </a:ln>
        </p:spPr>
        <p:txBody>
          <a:bodyPr/>
          <a:lstStyle/>
          <a:p>
            <a:endParaRPr lang="en-IN"/>
          </a:p>
        </p:txBody>
      </p:sp>
      <p:sp>
        <p:nvSpPr>
          <p:cNvPr id="16" name="Shape 14"/>
          <p:cNvSpPr/>
          <p:nvPr/>
        </p:nvSpPr>
        <p:spPr>
          <a:xfrm>
            <a:off x="7543800" y="0"/>
            <a:ext cx="0" cy="6858000"/>
          </a:xfrm>
          <a:prstGeom prst="line">
            <a:avLst/>
          </a:prstGeom>
          <a:noFill/>
          <a:ln w="6350">
            <a:solidFill>
              <a:srgbClr val="1A2331"/>
            </a:solidFill>
            <a:prstDash val="solid"/>
          </a:ln>
        </p:spPr>
        <p:txBody>
          <a:bodyPr/>
          <a:lstStyle/>
          <a:p>
            <a:endParaRPr lang="en-IN"/>
          </a:p>
        </p:txBody>
      </p:sp>
      <p:sp>
        <p:nvSpPr>
          <p:cNvPr id="17" name="Shape 15"/>
          <p:cNvSpPr/>
          <p:nvPr/>
        </p:nvSpPr>
        <p:spPr>
          <a:xfrm>
            <a:off x="8046720" y="0"/>
            <a:ext cx="0" cy="6858000"/>
          </a:xfrm>
          <a:prstGeom prst="line">
            <a:avLst/>
          </a:prstGeom>
          <a:noFill/>
          <a:ln w="6350">
            <a:solidFill>
              <a:srgbClr val="1A2331"/>
            </a:solidFill>
            <a:prstDash val="solid"/>
          </a:ln>
        </p:spPr>
        <p:txBody>
          <a:bodyPr/>
          <a:lstStyle/>
          <a:p>
            <a:endParaRPr lang="en-IN"/>
          </a:p>
        </p:txBody>
      </p:sp>
      <p:sp>
        <p:nvSpPr>
          <p:cNvPr id="18" name="Shape 16"/>
          <p:cNvSpPr/>
          <p:nvPr/>
        </p:nvSpPr>
        <p:spPr>
          <a:xfrm>
            <a:off x="8549640" y="0"/>
            <a:ext cx="0" cy="6858000"/>
          </a:xfrm>
          <a:prstGeom prst="line">
            <a:avLst/>
          </a:prstGeom>
          <a:noFill/>
          <a:ln w="6350">
            <a:solidFill>
              <a:srgbClr val="1A2331"/>
            </a:solidFill>
            <a:prstDash val="solid"/>
          </a:ln>
        </p:spPr>
        <p:txBody>
          <a:bodyPr/>
          <a:lstStyle/>
          <a:p>
            <a:endParaRPr lang="en-IN"/>
          </a:p>
        </p:txBody>
      </p:sp>
      <p:sp>
        <p:nvSpPr>
          <p:cNvPr id="19" name="Shape 17"/>
          <p:cNvSpPr/>
          <p:nvPr/>
        </p:nvSpPr>
        <p:spPr>
          <a:xfrm>
            <a:off x="9052560" y="0"/>
            <a:ext cx="0" cy="6858000"/>
          </a:xfrm>
          <a:prstGeom prst="line">
            <a:avLst/>
          </a:prstGeom>
          <a:noFill/>
          <a:ln w="6350">
            <a:solidFill>
              <a:srgbClr val="1A2331"/>
            </a:solidFill>
            <a:prstDash val="solid"/>
          </a:ln>
        </p:spPr>
        <p:txBody>
          <a:bodyPr/>
          <a:lstStyle/>
          <a:p>
            <a:endParaRPr lang="en-IN"/>
          </a:p>
        </p:txBody>
      </p:sp>
      <p:sp>
        <p:nvSpPr>
          <p:cNvPr id="20" name="Shape 18"/>
          <p:cNvSpPr/>
          <p:nvPr/>
        </p:nvSpPr>
        <p:spPr>
          <a:xfrm>
            <a:off x="9555480" y="0"/>
            <a:ext cx="0" cy="6858000"/>
          </a:xfrm>
          <a:prstGeom prst="line">
            <a:avLst/>
          </a:prstGeom>
          <a:noFill/>
          <a:ln w="6350">
            <a:solidFill>
              <a:srgbClr val="1A2331"/>
            </a:solidFill>
            <a:prstDash val="solid"/>
          </a:ln>
        </p:spPr>
        <p:txBody>
          <a:bodyPr/>
          <a:lstStyle/>
          <a:p>
            <a:endParaRPr lang="en-IN"/>
          </a:p>
        </p:txBody>
      </p:sp>
      <p:sp>
        <p:nvSpPr>
          <p:cNvPr id="21" name="Shape 19"/>
          <p:cNvSpPr/>
          <p:nvPr/>
        </p:nvSpPr>
        <p:spPr>
          <a:xfrm>
            <a:off x="10058400" y="0"/>
            <a:ext cx="0" cy="6858000"/>
          </a:xfrm>
          <a:prstGeom prst="line">
            <a:avLst/>
          </a:prstGeom>
          <a:noFill/>
          <a:ln w="6350">
            <a:solidFill>
              <a:srgbClr val="1A2331"/>
            </a:solidFill>
            <a:prstDash val="solid"/>
          </a:ln>
        </p:spPr>
        <p:txBody>
          <a:bodyPr/>
          <a:lstStyle/>
          <a:p>
            <a:endParaRPr lang="en-IN"/>
          </a:p>
        </p:txBody>
      </p:sp>
      <p:sp>
        <p:nvSpPr>
          <p:cNvPr id="22" name="Shape 20"/>
          <p:cNvSpPr/>
          <p:nvPr/>
        </p:nvSpPr>
        <p:spPr>
          <a:xfrm>
            <a:off x="10561320" y="0"/>
            <a:ext cx="0" cy="6858000"/>
          </a:xfrm>
          <a:prstGeom prst="line">
            <a:avLst/>
          </a:prstGeom>
          <a:noFill/>
          <a:ln w="6350">
            <a:solidFill>
              <a:srgbClr val="1A2331"/>
            </a:solidFill>
            <a:prstDash val="solid"/>
          </a:ln>
        </p:spPr>
        <p:txBody>
          <a:bodyPr/>
          <a:lstStyle/>
          <a:p>
            <a:endParaRPr lang="en-IN"/>
          </a:p>
        </p:txBody>
      </p:sp>
      <p:sp>
        <p:nvSpPr>
          <p:cNvPr id="23" name="Shape 21"/>
          <p:cNvSpPr/>
          <p:nvPr/>
        </p:nvSpPr>
        <p:spPr>
          <a:xfrm>
            <a:off x="11064240" y="0"/>
            <a:ext cx="0" cy="6858000"/>
          </a:xfrm>
          <a:prstGeom prst="line">
            <a:avLst/>
          </a:prstGeom>
          <a:noFill/>
          <a:ln w="6350">
            <a:solidFill>
              <a:srgbClr val="1A2331"/>
            </a:solidFill>
            <a:prstDash val="solid"/>
          </a:ln>
        </p:spPr>
        <p:txBody>
          <a:bodyPr/>
          <a:lstStyle/>
          <a:p>
            <a:endParaRPr lang="en-IN"/>
          </a:p>
        </p:txBody>
      </p:sp>
      <p:sp>
        <p:nvSpPr>
          <p:cNvPr id="24" name="Shape 22"/>
          <p:cNvSpPr/>
          <p:nvPr/>
        </p:nvSpPr>
        <p:spPr>
          <a:xfrm>
            <a:off x="11567160" y="0"/>
            <a:ext cx="0" cy="6858000"/>
          </a:xfrm>
          <a:prstGeom prst="line">
            <a:avLst/>
          </a:prstGeom>
          <a:noFill/>
          <a:ln w="6350">
            <a:solidFill>
              <a:srgbClr val="1A2331"/>
            </a:solidFill>
            <a:prstDash val="solid"/>
          </a:ln>
        </p:spPr>
        <p:txBody>
          <a:bodyPr/>
          <a:lstStyle/>
          <a:p>
            <a:endParaRPr lang="en-IN"/>
          </a:p>
        </p:txBody>
      </p:sp>
      <p:sp>
        <p:nvSpPr>
          <p:cNvPr id="25" name="Shape 23"/>
          <p:cNvSpPr/>
          <p:nvPr/>
        </p:nvSpPr>
        <p:spPr>
          <a:xfrm>
            <a:off x="12070080" y="0"/>
            <a:ext cx="0" cy="6858000"/>
          </a:xfrm>
          <a:prstGeom prst="line">
            <a:avLst/>
          </a:prstGeom>
          <a:noFill/>
          <a:ln w="6350">
            <a:solidFill>
              <a:srgbClr val="1A2331"/>
            </a:solidFill>
            <a:prstDash val="solid"/>
          </a:ln>
        </p:spPr>
        <p:txBody>
          <a:bodyPr/>
          <a:lstStyle/>
          <a:p>
            <a:endParaRPr lang="en-IN"/>
          </a:p>
        </p:txBody>
      </p:sp>
      <p:sp>
        <p:nvSpPr>
          <p:cNvPr id="26" name="Shape 24"/>
          <p:cNvSpPr/>
          <p:nvPr/>
        </p:nvSpPr>
        <p:spPr>
          <a:xfrm>
            <a:off x="0" y="502920"/>
            <a:ext cx="12191695" cy="0"/>
          </a:xfrm>
          <a:prstGeom prst="line">
            <a:avLst/>
          </a:prstGeom>
          <a:noFill/>
          <a:ln w="6350">
            <a:solidFill>
              <a:srgbClr val="1A2331"/>
            </a:solidFill>
            <a:prstDash val="solid"/>
          </a:ln>
        </p:spPr>
        <p:txBody>
          <a:bodyPr/>
          <a:lstStyle/>
          <a:p>
            <a:endParaRPr lang="en-IN"/>
          </a:p>
        </p:txBody>
      </p:sp>
      <p:sp>
        <p:nvSpPr>
          <p:cNvPr id="27" name="Shape 25"/>
          <p:cNvSpPr/>
          <p:nvPr/>
        </p:nvSpPr>
        <p:spPr>
          <a:xfrm>
            <a:off x="0" y="1005840"/>
            <a:ext cx="12191695" cy="0"/>
          </a:xfrm>
          <a:prstGeom prst="line">
            <a:avLst/>
          </a:prstGeom>
          <a:noFill/>
          <a:ln w="6350">
            <a:solidFill>
              <a:srgbClr val="1A2331"/>
            </a:solidFill>
            <a:prstDash val="solid"/>
          </a:ln>
        </p:spPr>
        <p:txBody>
          <a:bodyPr/>
          <a:lstStyle/>
          <a:p>
            <a:endParaRPr lang="en-IN"/>
          </a:p>
        </p:txBody>
      </p:sp>
      <p:sp>
        <p:nvSpPr>
          <p:cNvPr id="28" name="Shape 26"/>
          <p:cNvSpPr/>
          <p:nvPr/>
        </p:nvSpPr>
        <p:spPr>
          <a:xfrm>
            <a:off x="0" y="1508760"/>
            <a:ext cx="12191695" cy="0"/>
          </a:xfrm>
          <a:prstGeom prst="line">
            <a:avLst/>
          </a:prstGeom>
          <a:noFill/>
          <a:ln w="6350">
            <a:solidFill>
              <a:srgbClr val="1A2331"/>
            </a:solidFill>
            <a:prstDash val="solid"/>
          </a:ln>
        </p:spPr>
        <p:txBody>
          <a:bodyPr/>
          <a:lstStyle/>
          <a:p>
            <a:endParaRPr lang="en-IN"/>
          </a:p>
        </p:txBody>
      </p:sp>
      <p:sp>
        <p:nvSpPr>
          <p:cNvPr id="29" name="Shape 27"/>
          <p:cNvSpPr/>
          <p:nvPr/>
        </p:nvSpPr>
        <p:spPr>
          <a:xfrm>
            <a:off x="0" y="2011680"/>
            <a:ext cx="12191695" cy="0"/>
          </a:xfrm>
          <a:prstGeom prst="line">
            <a:avLst/>
          </a:prstGeom>
          <a:noFill/>
          <a:ln w="6350">
            <a:solidFill>
              <a:srgbClr val="1A2331"/>
            </a:solidFill>
            <a:prstDash val="solid"/>
          </a:ln>
        </p:spPr>
        <p:txBody>
          <a:bodyPr/>
          <a:lstStyle/>
          <a:p>
            <a:endParaRPr lang="en-IN"/>
          </a:p>
        </p:txBody>
      </p:sp>
      <p:sp>
        <p:nvSpPr>
          <p:cNvPr id="30" name="Shape 28"/>
          <p:cNvSpPr/>
          <p:nvPr/>
        </p:nvSpPr>
        <p:spPr>
          <a:xfrm>
            <a:off x="0" y="2514600"/>
            <a:ext cx="12191695" cy="0"/>
          </a:xfrm>
          <a:prstGeom prst="line">
            <a:avLst/>
          </a:prstGeom>
          <a:noFill/>
          <a:ln w="6350">
            <a:solidFill>
              <a:srgbClr val="1A2331"/>
            </a:solidFill>
            <a:prstDash val="solid"/>
          </a:ln>
        </p:spPr>
        <p:txBody>
          <a:bodyPr/>
          <a:lstStyle/>
          <a:p>
            <a:endParaRPr lang="en-IN"/>
          </a:p>
        </p:txBody>
      </p:sp>
      <p:sp>
        <p:nvSpPr>
          <p:cNvPr id="31" name="Shape 29"/>
          <p:cNvSpPr/>
          <p:nvPr/>
        </p:nvSpPr>
        <p:spPr>
          <a:xfrm>
            <a:off x="0" y="3017520"/>
            <a:ext cx="12191695" cy="0"/>
          </a:xfrm>
          <a:prstGeom prst="line">
            <a:avLst/>
          </a:prstGeom>
          <a:noFill/>
          <a:ln w="6350">
            <a:solidFill>
              <a:srgbClr val="1A2331"/>
            </a:solidFill>
            <a:prstDash val="solid"/>
          </a:ln>
        </p:spPr>
        <p:txBody>
          <a:bodyPr/>
          <a:lstStyle/>
          <a:p>
            <a:endParaRPr lang="en-IN"/>
          </a:p>
        </p:txBody>
      </p:sp>
      <p:sp>
        <p:nvSpPr>
          <p:cNvPr id="32" name="Shape 30"/>
          <p:cNvSpPr/>
          <p:nvPr/>
        </p:nvSpPr>
        <p:spPr>
          <a:xfrm>
            <a:off x="0" y="3520440"/>
            <a:ext cx="12191695" cy="0"/>
          </a:xfrm>
          <a:prstGeom prst="line">
            <a:avLst/>
          </a:prstGeom>
          <a:noFill/>
          <a:ln w="6350">
            <a:solidFill>
              <a:srgbClr val="1A2331"/>
            </a:solidFill>
            <a:prstDash val="solid"/>
          </a:ln>
        </p:spPr>
        <p:txBody>
          <a:bodyPr/>
          <a:lstStyle/>
          <a:p>
            <a:endParaRPr lang="en-IN"/>
          </a:p>
        </p:txBody>
      </p:sp>
      <p:sp>
        <p:nvSpPr>
          <p:cNvPr id="33" name="Shape 31"/>
          <p:cNvSpPr/>
          <p:nvPr/>
        </p:nvSpPr>
        <p:spPr>
          <a:xfrm>
            <a:off x="0" y="4023360"/>
            <a:ext cx="12191695" cy="0"/>
          </a:xfrm>
          <a:prstGeom prst="line">
            <a:avLst/>
          </a:prstGeom>
          <a:noFill/>
          <a:ln w="6350">
            <a:solidFill>
              <a:srgbClr val="1A2331"/>
            </a:solidFill>
            <a:prstDash val="solid"/>
          </a:ln>
        </p:spPr>
        <p:txBody>
          <a:bodyPr/>
          <a:lstStyle/>
          <a:p>
            <a:endParaRPr lang="en-IN"/>
          </a:p>
        </p:txBody>
      </p:sp>
      <p:sp>
        <p:nvSpPr>
          <p:cNvPr id="34" name="Shape 32"/>
          <p:cNvSpPr/>
          <p:nvPr/>
        </p:nvSpPr>
        <p:spPr>
          <a:xfrm>
            <a:off x="0" y="4526280"/>
            <a:ext cx="12191695" cy="0"/>
          </a:xfrm>
          <a:prstGeom prst="line">
            <a:avLst/>
          </a:prstGeom>
          <a:noFill/>
          <a:ln w="6350">
            <a:solidFill>
              <a:srgbClr val="1A2331"/>
            </a:solidFill>
            <a:prstDash val="solid"/>
          </a:ln>
        </p:spPr>
        <p:txBody>
          <a:bodyPr/>
          <a:lstStyle/>
          <a:p>
            <a:endParaRPr lang="en-IN"/>
          </a:p>
        </p:txBody>
      </p:sp>
      <p:sp>
        <p:nvSpPr>
          <p:cNvPr id="35" name="Shape 33"/>
          <p:cNvSpPr/>
          <p:nvPr/>
        </p:nvSpPr>
        <p:spPr>
          <a:xfrm>
            <a:off x="0" y="5029200"/>
            <a:ext cx="12191695" cy="0"/>
          </a:xfrm>
          <a:prstGeom prst="line">
            <a:avLst/>
          </a:prstGeom>
          <a:noFill/>
          <a:ln w="6350">
            <a:solidFill>
              <a:srgbClr val="1A2331"/>
            </a:solidFill>
            <a:prstDash val="solid"/>
          </a:ln>
        </p:spPr>
        <p:txBody>
          <a:bodyPr/>
          <a:lstStyle/>
          <a:p>
            <a:endParaRPr lang="en-IN"/>
          </a:p>
        </p:txBody>
      </p:sp>
      <p:sp>
        <p:nvSpPr>
          <p:cNvPr id="36" name="Shape 34"/>
          <p:cNvSpPr/>
          <p:nvPr/>
        </p:nvSpPr>
        <p:spPr>
          <a:xfrm>
            <a:off x="0" y="5532120"/>
            <a:ext cx="12191695" cy="0"/>
          </a:xfrm>
          <a:prstGeom prst="line">
            <a:avLst/>
          </a:prstGeom>
          <a:noFill/>
          <a:ln w="6350">
            <a:solidFill>
              <a:srgbClr val="1A2331"/>
            </a:solidFill>
            <a:prstDash val="solid"/>
          </a:ln>
        </p:spPr>
        <p:txBody>
          <a:bodyPr/>
          <a:lstStyle/>
          <a:p>
            <a:endParaRPr lang="en-IN"/>
          </a:p>
        </p:txBody>
      </p:sp>
      <p:sp>
        <p:nvSpPr>
          <p:cNvPr id="37" name="Shape 35"/>
          <p:cNvSpPr/>
          <p:nvPr/>
        </p:nvSpPr>
        <p:spPr>
          <a:xfrm>
            <a:off x="0" y="6035040"/>
            <a:ext cx="12191695" cy="0"/>
          </a:xfrm>
          <a:prstGeom prst="line">
            <a:avLst/>
          </a:prstGeom>
          <a:noFill/>
          <a:ln w="6350">
            <a:solidFill>
              <a:srgbClr val="1A2331"/>
            </a:solidFill>
            <a:prstDash val="solid"/>
          </a:ln>
        </p:spPr>
        <p:txBody>
          <a:bodyPr/>
          <a:lstStyle/>
          <a:p>
            <a:endParaRPr lang="en-IN"/>
          </a:p>
        </p:txBody>
      </p:sp>
      <p:sp>
        <p:nvSpPr>
          <p:cNvPr id="38" name="Shape 36"/>
          <p:cNvSpPr/>
          <p:nvPr/>
        </p:nvSpPr>
        <p:spPr>
          <a:xfrm>
            <a:off x="0" y="6537960"/>
            <a:ext cx="12191695" cy="0"/>
          </a:xfrm>
          <a:prstGeom prst="line">
            <a:avLst/>
          </a:prstGeom>
          <a:noFill/>
          <a:ln w="6350">
            <a:solidFill>
              <a:srgbClr val="1A2331"/>
            </a:solidFill>
            <a:prstDash val="solid"/>
          </a:ln>
        </p:spPr>
        <p:txBody>
          <a:bodyPr/>
          <a:lstStyle/>
          <a:p>
            <a:endParaRPr lang="en-IN"/>
          </a:p>
        </p:txBody>
      </p:sp>
      <p:sp>
        <p:nvSpPr>
          <p:cNvPr id="39" name="Shape 37"/>
          <p:cNvSpPr/>
          <p:nvPr/>
        </p:nvSpPr>
        <p:spPr>
          <a:xfrm>
            <a:off x="566928" y="420624"/>
            <a:ext cx="274320" cy="274320"/>
          </a:xfrm>
          <a:prstGeom prst="rect">
            <a:avLst/>
          </a:prstGeom>
          <a:solidFill>
            <a:srgbClr val="7C4DE8"/>
          </a:solidFill>
          <a:ln/>
        </p:spPr>
        <p:txBody>
          <a:bodyPr/>
          <a:lstStyle/>
          <a:p>
            <a:endParaRPr lang="en-IN"/>
          </a:p>
        </p:txBody>
      </p:sp>
      <p:sp>
        <p:nvSpPr>
          <p:cNvPr id="40" name="Shape 38"/>
          <p:cNvSpPr/>
          <p:nvPr/>
        </p:nvSpPr>
        <p:spPr>
          <a:xfrm>
            <a:off x="640994" y="494690"/>
            <a:ext cx="126187" cy="126187"/>
          </a:xfrm>
          <a:prstGeom prst="rect">
            <a:avLst/>
          </a:prstGeom>
          <a:solidFill>
            <a:srgbClr val="0E141B"/>
          </a:solidFill>
          <a:ln/>
        </p:spPr>
        <p:txBody>
          <a:bodyPr/>
          <a:lstStyle/>
          <a:p>
            <a:endParaRPr lang="en-IN"/>
          </a:p>
        </p:txBody>
      </p:sp>
      <p:sp>
        <p:nvSpPr>
          <p:cNvPr id="41" name="Shape 39"/>
          <p:cNvSpPr/>
          <p:nvPr/>
        </p:nvSpPr>
        <p:spPr>
          <a:xfrm>
            <a:off x="613562" y="365760"/>
            <a:ext cx="46634" cy="54864"/>
          </a:xfrm>
          <a:prstGeom prst="rect">
            <a:avLst/>
          </a:prstGeom>
          <a:solidFill>
            <a:srgbClr val="7C4DE8"/>
          </a:solidFill>
          <a:ln/>
        </p:spPr>
        <p:txBody>
          <a:bodyPr/>
          <a:lstStyle/>
          <a:p>
            <a:endParaRPr lang="en-IN"/>
          </a:p>
        </p:txBody>
      </p:sp>
      <p:sp>
        <p:nvSpPr>
          <p:cNvPr id="42" name="Shape 40"/>
          <p:cNvSpPr/>
          <p:nvPr/>
        </p:nvSpPr>
        <p:spPr>
          <a:xfrm>
            <a:off x="613562" y="694944"/>
            <a:ext cx="46634" cy="54864"/>
          </a:xfrm>
          <a:prstGeom prst="rect">
            <a:avLst/>
          </a:prstGeom>
          <a:solidFill>
            <a:srgbClr val="7C4DE8"/>
          </a:solidFill>
          <a:ln/>
        </p:spPr>
        <p:txBody>
          <a:bodyPr/>
          <a:lstStyle/>
          <a:p>
            <a:endParaRPr lang="en-IN"/>
          </a:p>
        </p:txBody>
      </p:sp>
      <p:sp>
        <p:nvSpPr>
          <p:cNvPr id="43" name="Shape 41"/>
          <p:cNvSpPr/>
          <p:nvPr/>
        </p:nvSpPr>
        <p:spPr>
          <a:xfrm>
            <a:off x="512064" y="467258"/>
            <a:ext cx="54864" cy="46634"/>
          </a:xfrm>
          <a:prstGeom prst="rect">
            <a:avLst/>
          </a:prstGeom>
          <a:solidFill>
            <a:srgbClr val="7C4DE8"/>
          </a:solidFill>
          <a:ln/>
        </p:spPr>
        <p:txBody>
          <a:bodyPr/>
          <a:lstStyle/>
          <a:p>
            <a:endParaRPr lang="en-IN"/>
          </a:p>
        </p:txBody>
      </p:sp>
      <p:sp>
        <p:nvSpPr>
          <p:cNvPr id="44" name="Shape 42"/>
          <p:cNvSpPr/>
          <p:nvPr/>
        </p:nvSpPr>
        <p:spPr>
          <a:xfrm>
            <a:off x="841248" y="467258"/>
            <a:ext cx="54864" cy="46634"/>
          </a:xfrm>
          <a:prstGeom prst="rect">
            <a:avLst/>
          </a:prstGeom>
          <a:solidFill>
            <a:srgbClr val="7C4DE8"/>
          </a:solidFill>
          <a:ln/>
        </p:spPr>
        <p:txBody>
          <a:bodyPr/>
          <a:lstStyle/>
          <a:p>
            <a:endParaRPr lang="en-IN"/>
          </a:p>
        </p:txBody>
      </p:sp>
      <p:sp>
        <p:nvSpPr>
          <p:cNvPr id="45" name="Shape 43"/>
          <p:cNvSpPr/>
          <p:nvPr/>
        </p:nvSpPr>
        <p:spPr>
          <a:xfrm>
            <a:off x="747979" y="365760"/>
            <a:ext cx="46634" cy="54864"/>
          </a:xfrm>
          <a:prstGeom prst="rect">
            <a:avLst/>
          </a:prstGeom>
          <a:solidFill>
            <a:srgbClr val="7C4DE8"/>
          </a:solidFill>
          <a:ln/>
        </p:spPr>
        <p:txBody>
          <a:bodyPr/>
          <a:lstStyle/>
          <a:p>
            <a:endParaRPr lang="en-IN"/>
          </a:p>
        </p:txBody>
      </p:sp>
      <p:sp>
        <p:nvSpPr>
          <p:cNvPr id="46" name="Shape 44"/>
          <p:cNvSpPr/>
          <p:nvPr/>
        </p:nvSpPr>
        <p:spPr>
          <a:xfrm>
            <a:off x="747979" y="694944"/>
            <a:ext cx="46634" cy="54864"/>
          </a:xfrm>
          <a:prstGeom prst="rect">
            <a:avLst/>
          </a:prstGeom>
          <a:solidFill>
            <a:srgbClr val="7C4DE8"/>
          </a:solidFill>
          <a:ln/>
        </p:spPr>
        <p:txBody>
          <a:bodyPr/>
          <a:lstStyle/>
          <a:p>
            <a:endParaRPr lang="en-IN"/>
          </a:p>
        </p:txBody>
      </p:sp>
      <p:sp>
        <p:nvSpPr>
          <p:cNvPr id="47" name="Shape 45"/>
          <p:cNvSpPr/>
          <p:nvPr/>
        </p:nvSpPr>
        <p:spPr>
          <a:xfrm>
            <a:off x="512064" y="601675"/>
            <a:ext cx="54864" cy="46634"/>
          </a:xfrm>
          <a:prstGeom prst="rect">
            <a:avLst/>
          </a:prstGeom>
          <a:solidFill>
            <a:srgbClr val="7C4DE8"/>
          </a:solidFill>
          <a:ln/>
        </p:spPr>
        <p:txBody>
          <a:bodyPr/>
          <a:lstStyle/>
          <a:p>
            <a:endParaRPr lang="en-IN"/>
          </a:p>
        </p:txBody>
      </p:sp>
      <p:sp>
        <p:nvSpPr>
          <p:cNvPr id="48" name="Shape 46"/>
          <p:cNvSpPr/>
          <p:nvPr/>
        </p:nvSpPr>
        <p:spPr>
          <a:xfrm>
            <a:off x="841248" y="601675"/>
            <a:ext cx="54864" cy="46634"/>
          </a:xfrm>
          <a:prstGeom prst="rect">
            <a:avLst/>
          </a:prstGeom>
          <a:solidFill>
            <a:srgbClr val="7C4DE8"/>
          </a:solidFill>
          <a:ln/>
        </p:spPr>
        <p:txBody>
          <a:bodyPr/>
          <a:lstStyle/>
          <a:p>
            <a:endParaRPr lang="en-IN"/>
          </a:p>
        </p:txBody>
      </p:sp>
      <p:sp>
        <p:nvSpPr>
          <p:cNvPr id="49" name="Text 47"/>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FFFFFF"/>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50" name="Text 48"/>
          <p:cNvSpPr/>
          <p:nvPr/>
        </p:nvSpPr>
        <p:spPr>
          <a:xfrm>
            <a:off x="7589520" y="384048"/>
            <a:ext cx="4023360" cy="274320"/>
          </a:xfrm>
          <a:prstGeom prst="rect">
            <a:avLst/>
          </a:prstGeom>
          <a:noFill/>
          <a:ln/>
        </p:spPr>
        <p:txBody>
          <a:bodyPr wrap="square" lIns="0" tIns="0" rIns="0" bIns="0" rtlCol="0" anchor="ctr"/>
          <a:lstStyle/>
          <a:p>
            <a:pPr marL="0" indent="0" algn="r">
              <a:buNone/>
            </a:pPr>
            <a:r>
              <a:rPr lang="en-US" sz="900" i="0" kern="0" spc="120" dirty="0">
                <a:solidFill>
                  <a:srgbClr val="9AA3AE"/>
                </a:solidFill>
                <a:latin typeface="Consolas" pitchFamily="34" charset="0"/>
                <a:ea typeface="Consolas" pitchFamily="34" charset="-122"/>
                <a:cs typeface="Consolas" pitchFamily="34" charset="-120"/>
              </a:rPr>
              <a:t>SUBMISSION · JULY 30-31</a:t>
            </a:r>
          </a:p>
        </p:txBody>
      </p:sp>
      <p:sp>
        <p:nvSpPr>
          <p:cNvPr id="51" name="Text 49"/>
          <p:cNvSpPr/>
          <p:nvPr/>
        </p:nvSpPr>
        <p:spPr>
          <a:xfrm>
            <a:off x="530352" y="1005840"/>
            <a:ext cx="11155680" cy="960120"/>
          </a:xfrm>
          <a:prstGeom prst="rect">
            <a:avLst/>
          </a:prstGeom>
          <a:noFill/>
          <a:ln/>
        </p:spPr>
        <p:txBody>
          <a:bodyPr wrap="square" lIns="0" tIns="0" rIns="0" bIns="0" rtlCol="0" anchor="ctr"/>
          <a:lstStyle/>
          <a:p>
            <a:pPr marL="0" indent="0">
              <a:buNone/>
            </a:pPr>
            <a:r>
              <a:rPr lang="en-US" sz="5600" kern="0" spc="600" dirty="0">
                <a:solidFill>
                  <a:srgbClr val="FFFFFF"/>
                </a:solidFill>
                <a:latin typeface="Arial Black" pitchFamily="34" charset="0"/>
                <a:ea typeface="Arial Black" pitchFamily="34" charset="-122"/>
                <a:cs typeface="Arial Black" pitchFamily="34" charset="-120"/>
              </a:rPr>
              <a:t>FRONT</a:t>
            </a:r>
            <a:r>
              <a:rPr lang="en-US" sz="5600" kern="0" spc="600" dirty="0">
                <a:solidFill>
                  <a:srgbClr val="7C4DE8"/>
                </a:solidFill>
                <a:latin typeface="Arial Black" pitchFamily="34" charset="0"/>
                <a:ea typeface="Arial Black" pitchFamily="34" charset="-122"/>
                <a:cs typeface="Arial Black" pitchFamily="34" charset="-120"/>
              </a:rPr>
              <a:t>IER</a:t>
            </a:r>
            <a:endParaRPr lang="en-US" sz="5600" dirty="0"/>
          </a:p>
        </p:txBody>
      </p:sp>
      <p:sp>
        <p:nvSpPr>
          <p:cNvPr id="52" name="Shape 50"/>
          <p:cNvSpPr/>
          <p:nvPr/>
        </p:nvSpPr>
        <p:spPr>
          <a:xfrm>
            <a:off x="566928" y="2048256"/>
            <a:ext cx="7589520" cy="402336"/>
          </a:xfrm>
          <a:prstGeom prst="rect">
            <a:avLst/>
          </a:prstGeom>
          <a:ln w="9525">
            <a:solidFill>
              <a:srgbClr val="FFFFFF"/>
            </a:solidFill>
            <a:prstDash val="solid"/>
          </a:ln>
        </p:spPr>
        <p:txBody>
          <a:bodyPr/>
          <a:lstStyle/>
          <a:p>
            <a:endParaRPr lang="en-IN"/>
          </a:p>
        </p:txBody>
      </p:sp>
      <p:sp>
        <p:nvSpPr>
          <p:cNvPr id="53" name="Text 51"/>
          <p:cNvSpPr/>
          <p:nvPr/>
        </p:nvSpPr>
        <p:spPr>
          <a:xfrm>
            <a:off x="822960" y="2048256"/>
            <a:ext cx="7132320" cy="402336"/>
          </a:xfrm>
          <a:prstGeom prst="rect">
            <a:avLst/>
          </a:prstGeom>
          <a:noFill/>
          <a:ln/>
        </p:spPr>
        <p:txBody>
          <a:bodyPr wrap="square" lIns="0" tIns="0" rIns="0" bIns="0" rtlCol="0" anchor="ctr"/>
          <a:lstStyle/>
          <a:p>
            <a:pPr marL="0" indent="0">
              <a:buNone/>
            </a:pPr>
            <a:r>
              <a:rPr lang="en-US" sz="1300" kern="0" spc="300" dirty="0">
                <a:solidFill>
                  <a:srgbClr val="FFFFFF"/>
                </a:solidFill>
                <a:latin typeface="Consolas" pitchFamily="34" charset="0"/>
                <a:ea typeface="Consolas" pitchFamily="34" charset="-122"/>
                <a:cs typeface="Consolas" pitchFamily="34" charset="-120"/>
              </a:rPr>
              <a:t>B U I L D   T H E   N E X T</a:t>
            </a:r>
            <a:endParaRPr lang="en-US" sz="1300" dirty="0"/>
          </a:p>
        </p:txBody>
      </p:sp>
      <p:sp>
        <p:nvSpPr>
          <p:cNvPr id="54" name="Shape 52"/>
          <p:cNvSpPr/>
          <p:nvPr/>
        </p:nvSpPr>
        <p:spPr>
          <a:xfrm>
            <a:off x="8156448" y="2048256"/>
            <a:ext cx="1325880" cy="402336"/>
          </a:xfrm>
          <a:prstGeom prst="rect">
            <a:avLst/>
          </a:prstGeom>
          <a:solidFill>
            <a:srgbClr val="7C4DE8"/>
          </a:solidFill>
          <a:ln/>
        </p:spPr>
        <p:txBody>
          <a:bodyPr/>
          <a:lstStyle/>
          <a:p>
            <a:endParaRPr lang="en-IN"/>
          </a:p>
        </p:txBody>
      </p:sp>
      <p:sp>
        <p:nvSpPr>
          <p:cNvPr id="55" name="Text 53"/>
          <p:cNvSpPr/>
          <p:nvPr/>
        </p:nvSpPr>
        <p:spPr>
          <a:xfrm>
            <a:off x="8156448" y="2048256"/>
            <a:ext cx="1325880" cy="402336"/>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onsolas" pitchFamily="34" charset="0"/>
                <a:ea typeface="Consolas" pitchFamily="34" charset="-122"/>
                <a:cs typeface="Consolas" pitchFamily="34" charset="-120"/>
              </a:rPr>
              <a:t>A I</a:t>
            </a:r>
            <a:endParaRPr lang="en-US" sz="1300" dirty="0"/>
          </a:p>
        </p:txBody>
      </p:sp>
      <p:sp>
        <p:nvSpPr>
          <p:cNvPr id="56" name="Text 54"/>
          <p:cNvSpPr/>
          <p:nvPr/>
        </p:nvSpPr>
        <p:spPr>
          <a:xfrm>
            <a:off x="566928" y="27889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PROJECT TITLE</a:t>
            </a:r>
            <a:endParaRPr lang="en-US" sz="900" dirty="0"/>
          </a:p>
        </p:txBody>
      </p:sp>
      <p:sp>
        <p:nvSpPr>
          <p:cNvPr id="57" name="Shape 55"/>
          <p:cNvSpPr/>
          <p:nvPr/>
        </p:nvSpPr>
        <p:spPr>
          <a:xfrm>
            <a:off x="566928" y="2999232"/>
            <a:ext cx="5577840" cy="566928"/>
          </a:xfrm>
          <a:prstGeom prst="roundRect">
            <a:avLst>
              <a:gd name="adj" fmla="val 6452"/>
            </a:avLst>
          </a:prstGeom>
          <a:solidFill>
            <a:srgbClr val="18212C"/>
          </a:solidFill>
          <a:ln w="9525">
            <a:solidFill>
              <a:srgbClr val="2A3441"/>
            </a:solidFill>
            <a:prstDash val="solid"/>
          </a:ln>
        </p:spPr>
        <p:txBody>
          <a:bodyPr/>
          <a:lstStyle/>
          <a:p>
            <a:endParaRPr lang="en-IN"/>
          </a:p>
        </p:txBody>
      </p:sp>
      <p:sp>
        <p:nvSpPr>
          <p:cNvPr id="58" name="Text 56"/>
          <p:cNvSpPr/>
          <p:nvPr/>
        </p:nvSpPr>
        <p:spPr>
          <a:xfrm>
            <a:off x="713232" y="2999232"/>
            <a:ext cx="5285232" cy="566928"/>
          </a:xfrm>
          <a:prstGeom prst="rect">
            <a:avLst/>
          </a:prstGeom>
          <a:noFill/>
          <a:ln/>
        </p:spPr>
        <p:txBody>
          <a:bodyPr wrap="square" lIns="762" tIns="762" rIns="762" bIns="762" rtlCol="0" anchor="t"/>
          <a:lstStyle/>
          <a:p>
            <a:pPr marL="0" indent="0">
              <a:buNone/>
            </a:pPr>
            <a:r>
              <a:rPr lang="en-US" sz="1300" b="1" i="0" dirty="0">
                <a:solidFill>
                  <a:srgbClr val="FFFFFF"/>
                </a:solidFill>
                <a:latin typeface="Arial" pitchFamily="34" charset="0"/>
                <a:ea typeface="Arial" pitchFamily="34" charset="-122"/>
                <a:cs typeface="Arial" pitchFamily="34" charset="-120"/>
              </a:rPr>
              <a:t>DevOrchestrator</a:t>
            </a:r>
          </a:p>
        </p:txBody>
      </p:sp>
      <p:sp>
        <p:nvSpPr>
          <p:cNvPr id="59" name="Text 57"/>
          <p:cNvSpPr/>
          <p:nvPr/>
        </p:nvSpPr>
        <p:spPr>
          <a:xfrm>
            <a:off x="566928" y="37033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TEAM NAME</a:t>
            </a:r>
            <a:endParaRPr lang="en-US" sz="900" dirty="0"/>
          </a:p>
        </p:txBody>
      </p:sp>
      <p:sp>
        <p:nvSpPr>
          <p:cNvPr id="60" name="Shape 58"/>
          <p:cNvSpPr/>
          <p:nvPr/>
        </p:nvSpPr>
        <p:spPr>
          <a:xfrm>
            <a:off x="566928" y="3913632"/>
            <a:ext cx="5577840" cy="566928"/>
          </a:xfrm>
          <a:prstGeom prst="roundRect">
            <a:avLst>
              <a:gd name="adj" fmla="val 6452"/>
            </a:avLst>
          </a:prstGeom>
          <a:solidFill>
            <a:srgbClr val="18212C"/>
          </a:solidFill>
          <a:ln w="9525">
            <a:solidFill>
              <a:srgbClr val="2A3441"/>
            </a:solidFill>
            <a:prstDash val="solid"/>
          </a:ln>
        </p:spPr>
        <p:txBody>
          <a:bodyPr/>
          <a:lstStyle/>
          <a:p>
            <a:r>
              <a:rPr lang="en-IN" dirty="0" err="1">
                <a:solidFill>
                  <a:schemeClr val="bg1"/>
                </a:solidFill>
              </a:rPr>
              <a:t>AgeX</a:t>
            </a:r>
            <a:endParaRPr lang="en-IN" dirty="0">
              <a:solidFill>
                <a:schemeClr val="bg1"/>
              </a:solidFill>
            </a:endParaRPr>
          </a:p>
        </p:txBody>
      </p:sp>
      <p:sp>
        <p:nvSpPr>
          <p:cNvPr id="61" name="Text 59"/>
          <p:cNvSpPr/>
          <p:nvPr/>
        </p:nvSpPr>
        <p:spPr>
          <a:xfrm>
            <a:off x="713232" y="3913632"/>
            <a:ext cx="5285232" cy="566928"/>
          </a:xfrm>
          <a:prstGeom prst="rect">
            <a:avLst/>
          </a:prstGeom>
          <a:noFill/>
          <a:ln/>
        </p:spPr>
        <p:txBody>
          <a:bodyPr wrap="square" lIns="762" tIns="762" rIns="762" bIns="762" rtlCol="0" anchor="t"/>
          <a:lstStyle/>
          <a:p>
            <a:pPr marL="0" indent="0">
              <a:buNone/>
            </a:pPr>
            <a:r>
              <a:rPr lang="en-US" sz="1100" i="0" dirty="0">
                <a:solidFill>
                  <a:srgbClr val="FFFFFF"/>
                </a:solidFill>
                <a:latin typeface="Arial" pitchFamily="34" charset="0"/>
                <a:ea typeface="Arial" pitchFamily="34" charset="-122"/>
                <a:cs typeface="Arial" pitchFamily="34" charset="-120"/>
              </a:rPr>
              <a:t> </a:t>
            </a:r>
          </a:p>
        </p:txBody>
      </p:sp>
      <p:sp>
        <p:nvSpPr>
          <p:cNvPr id="62" name="Text 60"/>
          <p:cNvSpPr/>
          <p:nvPr/>
        </p:nvSpPr>
        <p:spPr>
          <a:xfrm>
            <a:off x="566928" y="4617720"/>
            <a:ext cx="55778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ONE-LINE PITCH</a:t>
            </a:r>
            <a:endParaRPr lang="en-US" sz="900" dirty="0"/>
          </a:p>
        </p:txBody>
      </p:sp>
      <p:sp>
        <p:nvSpPr>
          <p:cNvPr id="63" name="Shape 61"/>
          <p:cNvSpPr/>
          <p:nvPr/>
        </p:nvSpPr>
        <p:spPr>
          <a:xfrm>
            <a:off x="566928" y="4828032"/>
            <a:ext cx="5577840" cy="1143000"/>
          </a:xfrm>
          <a:prstGeom prst="roundRect">
            <a:avLst>
              <a:gd name="adj" fmla="val 3200"/>
            </a:avLst>
          </a:prstGeom>
          <a:solidFill>
            <a:srgbClr val="18212C"/>
          </a:solidFill>
          <a:ln w="9525">
            <a:solidFill>
              <a:srgbClr val="2A3441"/>
            </a:solidFill>
            <a:prstDash val="solid"/>
          </a:ln>
        </p:spPr>
        <p:txBody>
          <a:bodyPr/>
          <a:lstStyle/>
          <a:p>
            <a:endParaRPr lang="en-IN"/>
          </a:p>
        </p:txBody>
      </p:sp>
      <p:sp>
        <p:nvSpPr>
          <p:cNvPr id="64" name="Text 62"/>
          <p:cNvSpPr/>
          <p:nvPr/>
        </p:nvSpPr>
        <p:spPr>
          <a:xfrm>
            <a:off x="713232" y="4828032"/>
            <a:ext cx="5285232" cy="1143000"/>
          </a:xfrm>
          <a:prstGeom prst="rect">
            <a:avLst/>
          </a:prstGeom>
          <a:noFill/>
          <a:ln/>
        </p:spPr>
        <p:txBody>
          <a:bodyPr wrap="square" lIns="762" tIns="762" rIns="762" bIns="762" rtlCol="0" anchor="t"/>
          <a:lstStyle/>
          <a:p>
            <a:pPr marL="0" indent="0">
              <a:buNone/>
            </a:pPr>
            <a:r>
              <a:rPr lang="en-US" sz="1100" i="0" dirty="0">
                <a:solidFill>
                  <a:srgbClr val="D6DCE4"/>
                </a:solidFill>
                <a:latin typeface="Arial" pitchFamily="34" charset="0"/>
                <a:ea typeface="Arial" pitchFamily="34" charset="-122"/>
                <a:cs typeface="Arial" pitchFamily="34" charset="-120"/>
              </a:rPr>
              <a:t>An SDLC orchestrator for small dev teams: the developer picks a task and reviews the result — it researches the codebase, writes the plan, implements it, runs the quality gates, opens the PR and ships it.</a:t>
            </a:r>
          </a:p>
        </p:txBody>
      </p:sp>
      <p:sp>
        <p:nvSpPr>
          <p:cNvPr id="65" name="Text 63"/>
          <p:cNvSpPr/>
          <p:nvPr/>
        </p:nvSpPr>
        <p:spPr>
          <a:xfrm>
            <a:off x="6492240" y="2788920"/>
            <a:ext cx="5120640" cy="201168"/>
          </a:xfrm>
          <a:prstGeom prst="rect">
            <a:avLst/>
          </a:prstGeom>
          <a:noFill/>
          <a:ln/>
        </p:spPr>
        <p:txBody>
          <a:bodyPr wrap="square" lIns="0" tIns="0" rIns="0" bIns="0" rtlCol="0" anchor="ctr"/>
          <a:lstStyle/>
          <a:p>
            <a:pPr marL="0" indent="0">
              <a:buNone/>
            </a:pPr>
            <a:r>
              <a:rPr lang="en-US" sz="900" b="1" i="0" kern="0" spc="110" dirty="0">
                <a:solidFill>
                  <a:srgbClr val="B9A2F4"/>
                </a:solidFill>
                <a:latin typeface="Consolas" pitchFamily="34" charset="0"/>
                <a:ea typeface="Consolas" pitchFamily="34" charset="-122"/>
                <a:cs typeface="Consolas" pitchFamily="34" charset="-120"/>
              </a:rPr>
              <a:t>TRACK</a:t>
            </a:r>
          </a:p>
        </p:txBody>
      </p:sp>
      <p:sp>
        <p:nvSpPr>
          <p:cNvPr id="78" name="Shape 76"/>
          <p:cNvSpPr/>
          <p:nvPr/>
        </p:nvSpPr>
        <p:spPr>
          <a:xfrm>
            <a:off x="6492240" y="2999232"/>
            <a:ext cx="5120640" cy="310896"/>
          </a:xfrm>
          <a:prstGeom prst="rect">
            <a:avLst/>
          </a:prstGeom>
          <a:solidFill>
            <a:srgbClr val="18212C"/>
          </a:solidFill>
          <a:ln w="9525">
            <a:solidFill>
              <a:srgbClr val="2A3441"/>
            </a:solidFill>
            <a:prstDash val="solid"/>
          </a:ln>
        </p:spPr>
        <p:txBody>
          <a:bodyPr/>
          <a:lstStyle/>
          <a:p>
            <a:endParaRPr lang="en-IN"/>
          </a:p>
        </p:txBody>
      </p:sp>
      <p:sp>
        <p:nvSpPr>
          <p:cNvPr id="79" name="Shape 77"/>
          <p:cNvSpPr/>
          <p:nvPr/>
        </p:nvSpPr>
        <p:spPr>
          <a:xfrm>
            <a:off x="6492240" y="2999232"/>
            <a:ext cx="384048" cy="310896"/>
          </a:xfrm>
          <a:prstGeom prst="rect">
            <a:avLst/>
          </a:prstGeom>
          <a:solidFill>
            <a:srgbClr val="7C4DE8"/>
          </a:solidFill>
          <a:ln/>
        </p:spPr>
        <p:txBody>
          <a:bodyPr/>
          <a:lstStyle/>
          <a:p>
            <a:endParaRPr lang="en-IN"/>
          </a:p>
        </p:txBody>
      </p:sp>
      <p:sp>
        <p:nvSpPr>
          <p:cNvPr id="80" name="Text 78"/>
          <p:cNvSpPr/>
          <p:nvPr/>
        </p:nvSpPr>
        <p:spPr>
          <a:xfrm>
            <a:off x="6492240" y="2999232"/>
            <a:ext cx="384048"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04</a:t>
            </a:r>
            <a:endParaRPr lang="en-US" sz="950" dirty="0"/>
          </a:p>
        </p:txBody>
      </p:sp>
      <p:sp>
        <p:nvSpPr>
          <p:cNvPr id="81" name="Text 79"/>
          <p:cNvSpPr/>
          <p:nvPr/>
        </p:nvSpPr>
        <p:spPr>
          <a:xfrm>
            <a:off x="7004304" y="2999232"/>
            <a:ext cx="4480560" cy="310896"/>
          </a:xfrm>
          <a:prstGeom prst="rect">
            <a:avLst/>
          </a:prstGeom>
          <a:noFill/>
          <a:ln/>
        </p:spPr>
        <p:txBody>
          <a:bodyPr wrap="square" lIns="0" tIns="0" rIns="0" bIns="0" rtlCol="0" anchor="ctr"/>
          <a:lstStyle/>
          <a:p>
            <a:pPr marL="0" indent="0">
              <a:buNone/>
            </a:pPr>
            <a:r>
              <a:rPr lang="en-US" sz="1100" kern="0" spc="50" dirty="0">
                <a:solidFill>
                  <a:srgbClr val="FFFFFF"/>
                </a:solidFill>
                <a:latin typeface="Arial" pitchFamily="34" charset="0"/>
                <a:ea typeface="Arial" pitchFamily="34" charset="-122"/>
                <a:cs typeface="Arial" pitchFamily="34" charset="-120"/>
              </a:rPr>
              <a:t>DEV PRODUCTIVITY</a:t>
            </a:r>
            <a:endParaRPr lang="en-US" sz="1100" dirty="0"/>
          </a:p>
        </p:txBody>
      </p:sp>
      <p:sp>
        <p:nvSpPr>
          <p:cNvPr id="86" name="Text 84"/>
          <p:cNvSpPr/>
          <p:nvPr/>
        </p:nvSpPr>
        <p:spPr>
          <a:xfrm>
            <a:off x="6492240" y="4983480"/>
            <a:ext cx="5120640" cy="201168"/>
          </a:xfrm>
          <a:prstGeom prst="rect">
            <a:avLst/>
          </a:prstGeom>
          <a:noFill/>
          <a:ln/>
        </p:spPr>
        <p:txBody>
          <a:bodyPr wrap="square" lIns="0" tIns="0" rIns="0" bIns="0" rtlCol="0" anchor="ctr"/>
          <a:lstStyle/>
          <a:p>
            <a:pPr marL="0" indent="0">
              <a:buNone/>
            </a:pPr>
            <a:r>
              <a:rPr lang="en-US" sz="900" b="1" kern="0" spc="110" dirty="0">
                <a:solidFill>
                  <a:srgbClr val="B9A2F4"/>
                </a:solidFill>
                <a:latin typeface="Consolas" pitchFamily="34" charset="0"/>
                <a:ea typeface="Consolas" pitchFamily="34" charset="-122"/>
                <a:cs typeface="Consolas" pitchFamily="34" charset="-120"/>
              </a:rPr>
              <a:t>TEAM MEMBERS  ·  NAME + REG. NO.</a:t>
            </a:r>
            <a:endParaRPr lang="en-US" sz="900" dirty="0"/>
          </a:p>
        </p:txBody>
      </p:sp>
      <p:sp>
        <p:nvSpPr>
          <p:cNvPr id="87" name="Shape 85"/>
          <p:cNvSpPr/>
          <p:nvPr/>
        </p:nvSpPr>
        <p:spPr>
          <a:xfrm>
            <a:off x="6492240" y="5193792"/>
            <a:ext cx="5120640" cy="777240"/>
          </a:xfrm>
          <a:prstGeom prst="roundRect">
            <a:avLst>
              <a:gd name="adj" fmla="val 4706"/>
            </a:avLst>
          </a:prstGeom>
          <a:solidFill>
            <a:srgbClr val="18212C"/>
          </a:solidFill>
          <a:ln w="9525">
            <a:solidFill>
              <a:srgbClr val="2A3441"/>
            </a:solidFill>
            <a:prstDash val="solid"/>
          </a:ln>
        </p:spPr>
        <p:txBody>
          <a:bodyPr/>
          <a:lstStyle/>
          <a:p>
            <a:endParaRPr lang="en-IN" dirty="0"/>
          </a:p>
        </p:txBody>
      </p:sp>
      <p:sp>
        <p:nvSpPr>
          <p:cNvPr id="88" name="Text 86"/>
          <p:cNvSpPr/>
          <p:nvPr/>
        </p:nvSpPr>
        <p:spPr>
          <a:xfrm>
            <a:off x="6638544" y="5193792"/>
            <a:ext cx="4828032" cy="777240"/>
          </a:xfrm>
          <a:prstGeom prst="rect">
            <a:avLst/>
          </a:prstGeom>
          <a:noFill/>
          <a:ln/>
        </p:spPr>
        <p:txBody>
          <a:bodyPr wrap="square" lIns="762" tIns="762" rIns="762" bIns="762" rtlCol="0" anchor="t"/>
          <a:lstStyle/>
          <a:p>
            <a:pPr marL="0" indent="0">
              <a:buNone/>
            </a:pPr>
            <a:r>
              <a:rPr lang="en-US" sz="1100" i="1" dirty="0">
                <a:solidFill>
                  <a:srgbClr val="667180"/>
                </a:solidFill>
                <a:latin typeface="Arial" pitchFamily="34" charset="0"/>
                <a:ea typeface="Arial" pitchFamily="34" charset="-122"/>
                <a:cs typeface="Arial" pitchFamily="34" charset="-120"/>
              </a:rPr>
              <a:t>1 Ragav Hariharan (24BCE1522)</a:t>
            </a:r>
            <a:endParaRPr lang="en-US" sz="1100" dirty="0"/>
          </a:p>
          <a:p>
            <a:pPr marL="0" indent="0">
              <a:buNone/>
            </a:pPr>
            <a:r>
              <a:rPr lang="en-US" sz="1100" i="1" dirty="0">
                <a:solidFill>
                  <a:srgbClr val="667180"/>
                </a:solidFill>
                <a:latin typeface="Arial" pitchFamily="34" charset="0"/>
                <a:ea typeface="Arial" pitchFamily="34" charset="-122"/>
                <a:cs typeface="Arial" pitchFamily="34" charset="-120"/>
              </a:rPr>
              <a:t>2. Yuvaraj R (24BCE1490)</a:t>
            </a:r>
          </a:p>
          <a:p>
            <a:pPr marL="0" indent="0">
              <a:buNone/>
            </a:pPr>
            <a:r>
              <a:rPr lang="en-US" sz="1100" i="1" dirty="0">
                <a:solidFill>
                  <a:srgbClr val="667180"/>
                </a:solidFill>
                <a:latin typeface="Arial" pitchFamily="34" charset="0"/>
                <a:ea typeface="Arial" pitchFamily="34" charset="-122"/>
                <a:cs typeface="Arial" pitchFamily="34" charset="-120"/>
              </a:rPr>
              <a:t>3. Harsha Vardhan </a:t>
            </a:r>
            <a:r>
              <a:rPr lang="en-US" sz="1100" i="1" dirty="0" err="1">
                <a:solidFill>
                  <a:srgbClr val="667180"/>
                </a:solidFill>
                <a:latin typeface="Arial" pitchFamily="34" charset="0"/>
                <a:ea typeface="Arial" pitchFamily="34" charset="-122"/>
                <a:cs typeface="Arial" pitchFamily="34" charset="-120"/>
              </a:rPr>
              <a:t>Sakamuri</a:t>
            </a:r>
            <a:r>
              <a:rPr lang="en-US" sz="1100" i="1" dirty="0">
                <a:solidFill>
                  <a:srgbClr val="667180"/>
                </a:solidFill>
                <a:latin typeface="Arial" pitchFamily="34" charset="0"/>
                <a:ea typeface="Arial" pitchFamily="34" charset="-122"/>
                <a:cs typeface="Arial" pitchFamily="34" charset="-120"/>
              </a:rPr>
              <a:t> (24BCE1810)</a:t>
            </a:r>
          </a:p>
          <a:p>
            <a:pPr marL="0" indent="0">
              <a:buNone/>
            </a:pPr>
            <a:r>
              <a:rPr lang="en-US" sz="1100" i="1" dirty="0">
                <a:solidFill>
                  <a:srgbClr val="667180"/>
                </a:solidFill>
                <a:latin typeface="Arial" pitchFamily="34" charset="0"/>
                <a:ea typeface="Arial" pitchFamily="34" charset="-122"/>
                <a:cs typeface="Arial" pitchFamily="34" charset="-120"/>
              </a:rPr>
              <a:t>4. Tharun </a:t>
            </a:r>
            <a:r>
              <a:rPr lang="en-US" sz="1100" i="1" dirty="0" err="1">
                <a:solidFill>
                  <a:srgbClr val="667180"/>
                </a:solidFill>
                <a:latin typeface="Arial" pitchFamily="34" charset="0"/>
                <a:ea typeface="Arial" pitchFamily="34" charset="-122"/>
                <a:cs typeface="Arial" pitchFamily="34" charset="-120"/>
              </a:rPr>
              <a:t>Parykshyt</a:t>
            </a:r>
            <a:r>
              <a:rPr lang="en-US" sz="1100" i="1" dirty="0">
                <a:solidFill>
                  <a:srgbClr val="667180"/>
                </a:solidFill>
                <a:latin typeface="Arial" pitchFamily="34" charset="0"/>
                <a:ea typeface="Arial" pitchFamily="34" charset="-122"/>
                <a:cs typeface="Arial" pitchFamily="34" charset="-120"/>
              </a:rPr>
              <a:t> (24BCE1119)</a:t>
            </a:r>
          </a:p>
          <a:p>
            <a:pPr marL="0" indent="0">
              <a:buNone/>
            </a:pPr>
            <a:r>
              <a:rPr lang="en-US" sz="1100" i="1" dirty="0">
                <a:solidFill>
                  <a:srgbClr val="667180"/>
                </a:solidFill>
                <a:latin typeface="Arial" pitchFamily="34" charset="0"/>
                <a:ea typeface="Arial" pitchFamily="34" charset="-122"/>
                <a:cs typeface="Arial" pitchFamily="34" charset="-120"/>
              </a:rPr>
              <a:t>          </a:t>
            </a:r>
          </a:p>
        </p:txBody>
      </p:sp>
      <p:sp>
        <p:nvSpPr>
          <p:cNvPr id="89" name="Text 87"/>
          <p:cNvSpPr/>
          <p:nvPr/>
        </p:nvSpPr>
        <p:spPr>
          <a:xfrm>
            <a:off x="566928" y="6217920"/>
            <a:ext cx="6400800" cy="274320"/>
          </a:xfrm>
          <a:prstGeom prst="rect">
            <a:avLst/>
          </a:prstGeom>
          <a:noFill/>
          <a:ln/>
        </p:spPr>
        <p:txBody>
          <a:bodyPr wrap="square" lIns="0" tIns="0" rIns="0" bIns="0" rtlCol="0" anchor="ctr"/>
          <a:lstStyle/>
          <a:p>
            <a:pPr marL="0" indent="0">
              <a:buNone/>
            </a:pPr>
            <a:r>
              <a:rPr lang="en-US" sz="850" kern="0" spc="100" dirty="0">
                <a:solidFill>
                  <a:srgbClr val="9AA3AE"/>
                </a:solidFill>
                <a:latin typeface="Consolas" pitchFamily="34" charset="0"/>
                <a:ea typeface="Consolas" pitchFamily="34" charset="-122"/>
                <a:cs typeface="Consolas" pitchFamily="34" charset="-120"/>
              </a:rPr>
              <a:t>NETAJI AUDITORIUM · AB-1 · VIT CHENNAI</a:t>
            </a:r>
            <a:endParaRPr lang="en-US" sz="850" dirty="0"/>
          </a:p>
        </p:txBody>
      </p:sp>
      <p:sp>
        <p:nvSpPr>
          <p:cNvPr id="90" name="Text 88"/>
          <p:cNvSpPr/>
          <p:nvPr/>
        </p:nvSpPr>
        <p:spPr>
          <a:xfrm>
            <a:off x="8229600" y="6217920"/>
            <a:ext cx="3108960" cy="274320"/>
          </a:xfrm>
          <a:prstGeom prst="rect">
            <a:avLst/>
          </a:prstGeom>
          <a:noFill/>
          <a:ln/>
        </p:spPr>
        <p:txBody>
          <a:bodyPr wrap="square" lIns="0" tIns="0" rIns="0" bIns="0" rtlCol="0" anchor="ctr"/>
          <a:lstStyle/>
          <a:p>
            <a:pPr marL="0" indent="0" algn="r">
              <a:buNone/>
            </a:pPr>
            <a:r>
              <a:rPr lang="en-US" sz="850" b="1" kern="0" spc="100" dirty="0">
                <a:solidFill>
                  <a:srgbClr val="FF9900"/>
                </a:solidFill>
                <a:latin typeface="Consolas" pitchFamily="34" charset="0"/>
                <a:ea typeface="Consolas" pitchFamily="34" charset="-122"/>
                <a:cs typeface="Consolas" pitchFamily="34" charset="-120"/>
              </a:rPr>
              <a:t>JULY 30 &amp; 31</a:t>
            </a:r>
            <a:endParaRPr lang="en-US" sz="850" dirty="0"/>
          </a:p>
        </p:txBody>
      </p:sp>
      <p:sp>
        <p:nvSpPr>
          <p:cNvPr id="91" name="Shape 89"/>
          <p:cNvSpPr/>
          <p:nvPr/>
        </p:nvSpPr>
        <p:spPr>
          <a:xfrm>
            <a:off x="11722608" y="6263640"/>
            <a:ext cx="173736" cy="173736"/>
          </a:xfrm>
          <a:prstGeom prst="rect">
            <a:avLst/>
          </a:prstGeom>
          <a:solidFill>
            <a:srgbClr val="7C4DE8"/>
          </a:solidFill>
          <a:ln/>
        </p:spPr>
        <p:txBody>
          <a:bodyPr/>
          <a:lstStyle/>
          <a:p>
            <a:endParaRPr lang="en-IN"/>
          </a:p>
        </p:txBody>
      </p:sp>
      <p:sp>
        <p:nvSpPr>
          <p:cNvPr id="92" name="Shape 90"/>
          <p:cNvSpPr/>
          <p:nvPr/>
        </p:nvSpPr>
        <p:spPr>
          <a:xfrm>
            <a:off x="11769517" y="6310549"/>
            <a:ext cx="79919" cy="79919"/>
          </a:xfrm>
          <a:prstGeom prst="rect">
            <a:avLst/>
          </a:prstGeom>
          <a:solidFill>
            <a:srgbClr val="0E141B"/>
          </a:solidFill>
          <a:ln/>
        </p:spPr>
        <p:txBody>
          <a:bodyPr/>
          <a:lstStyle/>
          <a:p>
            <a:endParaRPr lang="en-IN"/>
          </a:p>
        </p:txBody>
      </p:sp>
      <p:sp>
        <p:nvSpPr>
          <p:cNvPr id="93" name="Shape 91"/>
          <p:cNvSpPr/>
          <p:nvPr/>
        </p:nvSpPr>
        <p:spPr>
          <a:xfrm>
            <a:off x="11752143" y="6228893"/>
            <a:ext cx="29535" cy="34747"/>
          </a:xfrm>
          <a:prstGeom prst="rect">
            <a:avLst/>
          </a:prstGeom>
          <a:solidFill>
            <a:srgbClr val="7C4DE8"/>
          </a:solidFill>
          <a:ln/>
        </p:spPr>
        <p:txBody>
          <a:bodyPr/>
          <a:lstStyle/>
          <a:p>
            <a:endParaRPr lang="en-IN"/>
          </a:p>
        </p:txBody>
      </p:sp>
      <p:sp>
        <p:nvSpPr>
          <p:cNvPr id="94" name="Shape 92"/>
          <p:cNvSpPr/>
          <p:nvPr/>
        </p:nvSpPr>
        <p:spPr>
          <a:xfrm>
            <a:off x="11752143" y="6437376"/>
            <a:ext cx="29535" cy="34747"/>
          </a:xfrm>
          <a:prstGeom prst="rect">
            <a:avLst/>
          </a:prstGeom>
          <a:solidFill>
            <a:srgbClr val="7C4DE8"/>
          </a:solidFill>
          <a:ln/>
        </p:spPr>
        <p:txBody>
          <a:bodyPr/>
          <a:lstStyle/>
          <a:p>
            <a:endParaRPr lang="en-IN"/>
          </a:p>
        </p:txBody>
      </p:sp>
      <p:sp>
        <p:nvSpPr>
          <p:cNvPr id="95" name="Shape 93"/>
          <p:cNvSpPr/>
          <p:nvPr/>
        </p:nvSpPr>
        <p:spPr>
          <a:xfrm>
            <a:off x="11687861" y="6293175"/>
            <a:ext cx="34747" cy="29535"/>
          </a:xfrm>
          <a:prstGeom prst="rect">
            <a:avLst/>
          </a:prstGeom>
          <a:solidFill>
            <a:srgbClr val="7C4DE8"/>
          </a:solidFill>
          <a:ln/>
        </p:spPr>
        <p:txBody>
          <a:bodyPr/>
          <a:lstStyle/>
          <a:p>
            <a:endParaRPr lang="en-IN"/>
          </a:p>
        </p:txBody>
      </p:sp>
      <p:sp>
        <p:nvSpPr>
          <p:cNvPr id="96" name="Shape 94"/>
          <p:cNvSpPr/>
          <p:nvPr/>
        </p:nvSpPr>
        <p:spPr>
          <a:xfrm>
            <a:off x="11896344" y="6293175"/>
            <a:ext cx="34747" cy="29535"/>
          </a:xfrm>
          <a:prstGeom prst="rect">
            <a:avLst/>
          </a:prstGeom>
          <a:solidFill>
            <a:srgbClr val="7C4DE8"/>
          </a:solidFill>
          <a:ln/>
        </p:spPr>
        <p:txBody>
          <a:bodyPr/>
          <a:lstStyle/>
          <a:p>
            <a:endParaRPr lang="en-IN"/>
          </a:p>
        </p:txBody>
      </p:sp>
      <p:sp>
        <p:nvSpPr>
          <p:cNvPr id="97" name="Shape 95"/>
          <p:cNvSpPr/>
          <p:nvPr/>
        </p:nvSpPr>
        <p:spPr>
          <a:xfrm>
            <a:off x="11837274" y="6228893"/>
            <a:ext cx="29535" cy="34747"/>
          </a:xfrm>
          <a:prstGeom prst="rect">
            <a:avLst/>
          </a:prstGeom>
          <a:solidFill>
            <a:srgbClr val="7C4DE8"/>
          </a:solidFill>
          <a:ln/>
        </p:spPr>
        <p:txBody>
          <a:bodyPr/>
          <a:lstStyle/>
          <a:p>
            <a:endParaRPr lang="en-IN"/>
          </a:p>
        </p:txBody>
      </p:sp>
      <p:sp>
        <p:nvSpPr>
          <p:cNvPr id="98" name="Shape 96"/>
          <p:cNvSpPr/>
          <p:nvPr/>
        </p:nvSpPr>
        <p:spPr>
          <a:xfrm>
            <a:off x="11837274" y="6437376"/>
            <a:ext cx="29535" cy="34747"/>
          </a:xfrm>
          <a:prstGeom prst="rect">
            <a:avLst/>
          </a:prstGeom>
          <a:solidFill>
            <a:srgbClr val="7C4DE8"/>
          </a:solidFill>
          <a:ln/>
        </p:spPr>
        <p:txBody>
          <a:bodyPr/>
          <a:lstStyle/>
          <a:p>
            <a:endParaRPr lang="en-IN"/>
          </a:p>
        </p:txBody>
      </p:sp>
      <p:sp>
        <p:nvSpPr>
          <p:cNvPr id="99" name="Shape 97"/>
          <p:cNvSpPr/>
          <p:nvPr/>
        </p:nvSpPr>
        <p:spPr>
          <a:xfrm>
            <a:off x="11687861" y="6378306"/>
            <a:ext cx="34747" cy="29535"/>
          </a:xfrm>
          <a:prstGeom prst="rect">
            <a:avLst/>
          </a:prstGeom>
          <a:solidFill>
            <a:srgbClr val="7C4DE8"/>
          </a:solidFill>
          <a:ln/>
        </p:spPr>
        <p:txBody>
          <a:bodyPr/>
          <a:lstStyle/>
          <a:p>
            <a:endParaRPr lang="en-IN"/>
          </a:p>
        </p:txBody>
      </p:sp>
      <p:sp>
        <p:nvSpPr>
          <p:cNvPr id="100" name="Shape 98"/>
          <p:cNvSpPr/>
          <p:nvPr/>
        </p:nvSpPr>
        <p:spPr>
          <a:xfrm>
            <a:off x="11896344" y="6378306"/>
            <a:ext cx="34747" cy="29535"/>
          </a:xfrm>
          <a:prstGeom prst="rect">
            <a:avLst/>
          </a:prstGeom>
          <a:solidFill>
            <a:srgbClr val="7C4DE8"/>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02</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THE PROBLEM</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what is broken today</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What problem are you solving?</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spcAft>
                <a:spcPts val="0"/>
              </a:spcAft>
              <a:buNone/>
            </a:pPr>
            <a:r>
              <a:rPr lang="en-US" sz="1100" i="0" dirty="0">
                <a:solidFill>
                  <a:srgbClr val="2A3441"/>
                </a:solidFill>
                <a:latin typeface="Arial" pitchFamily="34" charset="0"/>
                <a:ea typeface="Arial" pitchFamily="34" charset="-122"/>
                <a:cs typeface="Arial" pitchFamily="34" charset="-120"/>
              </a:rPr>
              <a:t>A two-to-six person dev team loses most of a sprint to work that is not the feature: setting up branches, re-reading the codebase to work out where a change belongs, writing PR descriptions, chasing reviews, wiring the deploy, closing the ticket. Our own sprint audit puts that at roughly 60% of the ten working days — only about 30% is actual feature work.</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AI coding assistants made the middle step — writing the code — much faster. They did nothing for the loop around it. The developer is still the courier who carries a task from the board to production by hand, and the context built up on the way dies in their head the moment the branch is merged.</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Existing tools each own one slice — PR-Agent writes descriptions, CodeRabbit reviews, Linear tracks — and none of them own the loop. Nothing takes a task from assigned to deployed on a subscription a small team already pays for.</a:t>
            </a:r>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Every dev on a 2–6 person team, on every task, every sprint</a:t>
            </a:r>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By hand today, or with one AI tool bolted onto each step</a:t>
            </a:r>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No tool owns the whole loop, so context dies at every handoff</a:t>
            </a:r>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Our sprint audit: ~60% of a 10-day sprint is not feature work</a:t>
            </a:r>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02</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03</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OUR SOLUTION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what we are building</a:t>
            </a:r>
            <a:endParaRPr lang="en-US" sz="1100" dirty="0"/>
          </a:p>
        </p:txBody>
      </p:sp>
      <p:sp>
        <p:nvSpPr>
          <p:cNvPr id="18" name="Text 16"/>
          <p:cNvSpPr/>
          <p:nvPr/>
        </p:nvSpPr>
        <p:spPr>
          <a:xfrm>
            <a:off x="822960" y="2103120"/>
            <a:ext cx="5111496"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What are you building?</a:t>
            </a:r>
            <a:endParaRPr lang="en-US" sz="1800" dirty="0"/>
          </a:p>
        </p:txBody>
      </p:sp>
      <p:sp>
        <p:nvSpPr>
          <p:cNvPr id="19" name="Shape 17"/>
          <p:cNvSpPr/>
          <p:nvPr/>
        </p:nvSpPr>
        <p:spPr>
          <a:xfrm>
            <a:off x="822960" y="2889504"/>
            <a:ext cx="5111496"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889504"/>
            <a:ext cx="4818888" cy="2121408"/>
          </a:xfrm>
          <a:prstGeom prst="rect">
            <a:avLst/>
          </a:prstGeom>
          <a:noFill/>
          <a:ln/>
        </p:spPr>
        <p:txBody>
          <a:bodyPr wrap="square" lIns="762" tIns="762" rIns="762" bIns="762" rtlCol="0" anchor="t"/>
          <a:lstStyle/>
          <a:p>
            <a:pPr marL="0" indent="0">
              <a:spcAft>
                <a:spcPts val="0"/>
              </a:spcAft>
              <a:buNone/>
            </a:pPr>
            <a:r>
              <a:rPr lang="en-US" sz="1100" i="0" dirty="0">
                <a:solidFill>
                  <a:srgbClr val="2A3441"/>
                </a:solidFill>
                <a:latin typeface="Arial" pitchFamily="34" charset="0"/>
                <a:ea typeface="Arial" pitchFamily="34" charset="-122"/>
                <a:cs typeface="Arial" pitchFamily="34" charset="-120"/>
              </a:rPr>
              <a:t>DevOrchestrator — a Python CLI that runs the whole SDLC loop for a team.</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The developer runs devorchestrator start, picks a task from the board, and watches two Claude Code sessions work in live tmux panes: the first reads the real codebase and writes a plan, the second implements it. devorchestrator pr then runs the lint, secret and test gates, opens the PR, and hands the team lead one keypress to approve or reject. Merge triggers CI, deploy, the health check, the task close and the team ping.</a:t>
            </a:r>
          </a:p>
        </p:txBody>
      </p:sp>
      <p:sp>
        <p:nvSpPr>
          <p:cNvPr id="21" name="Text 19"/>
          <p:cNvSpPr/>
          <p:nvPr/>
        </p:nvSpPr>
        <p:spPr>
          <a:xfrm>
            <a:off x="6254496" y="2103120"/>
            <a:ext cx="5111496"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How does it solve that problem?</a:t>
            </a:r>
            <a:endParaRPr lang="en-US" sz="1800" dirty="0"/>
          </a:p>
        </p:txBody>
      </p:sp>
      <p:sp>
        <p:nvSpPr>
          <p:cNvPr id="22" name="Shape 20"/>
          <p:cNvSpPr/>
          <p:nvPr/>
        </p:nvSpPr>
        <p:spPr>
          <a:xfrm>
            <a:off x="6254496" y="2889504"/>
            <a:ext cx="5111496"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3" name="Text 21"/>
          <p:cNvSpPr/>
          <p:nvPr/>
        </p:nvSpPr>
        <p:spPr>
          <a:xfrm>
            <a:off x="6400800" y="2889504"/>
            <a:ext cx="4818888" cy="2121408"/>
          </a:xfrm>
          <a:prstGeom prst="rect">
            <a:avLst/>
          </a:prstGeom>
          <a:noFill/>
          <a:ln/>
        </p:spPr>
        <p:txBody>
          <a:bodyPr wrap="square" lIns="762" tIns="762" rIns="762" bIns="762" rtlCol="0" anchor="t"/>
          <a:lstStyle/>
          <a:p>
            <a:pPr marL="0" indent="0">
              <a:spcAft>
                <a:spcPts val="0"/>
              </a:spcAft>
              <a:buNone/>
            </a:pPr>
            <a:r>
              <a:rPr lang="en-US" sz="1100" i="0" dirty="0">
                <a:solidFill>
                  <a:srgbClr val="2A3441"/>
                </a:solidFill>
                <a:latin typeface="Arial" pitchFamily="34" charset="0"/>
                <a:ea typeface="Arial" pitchFamily="34" charset="-122"/>
                <a:cs typeface="Arial" pitchFamily="34" charset="-120"/>
              </a:rPr>
              <a:t>It removes the friction rather than speeding it up. Every step named on the previous slide — branch, research, PR text, review routing, deploy, ticket close — becomes a call the orchestrator makes, leaving two human moments: choose the task, review the result.</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The context stops dying too. Every run leaves an artifact — the plan the team lead reads next to the diff — and every decision lands in a shared SQLite mesh the whole team can query.</a:t>
            </a:r>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5" name="Shape 23"/>
          <p:cNvSpPr/>
          <p:nvPr/>
        </p:nvSpPr>
        <p:spPr>
          <a:xfrm>
            <a:off x="822960" y="5596128"/>
            <a:ext cx="91440" cy="91440"/>
          </a:xfrm>
          <a:prstGeom prst="rect">
            <a:avLst/>
          </a:prstGeom>
          <a:solidFill>
            <a:srgbClr val="7C4DE8"/>
          </a:solidFill>
          <a:ln/>
        </p:spPr>
        <p:txBody>
          <a:bodyPr/>
          <a:lstStyle/>
          <a:p>
            <a:endParaRPr lang="en-IN"/>
          </a:p>
        </p:txBody>
      </p:sp>
      <p:sp>
        <p:nvSpPr>
          <p:cNvPr id="26" name="Text 24"/>
          <p:cNvSpPr/>
          <p:nvPr/>
        </p:nvSpPr>
        <p:spPr>
          <a:xfrm>
            <a:off x="1042416" y="5522976"/>
            <a:ext cx="3112008"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One command per stage — start, pr, review — the rest runs itself</a:t>
            </a:r>
          </a:p>
        </p:txBody>
      </p:sp>
      <p:sp>
        <p:nvSpPr>
          <p:cNvPr id="27" name="Shape 25"/>
          <p:cNvSpPr/>
          <p:nvPr/>
        </p:nvSpPr>
        <p:spPr>
          <a:xfrm>
            <a:off x="4428744" y="5596128"/>
            <a:ext cx="91440" cy="91440"/>
          </a:xfrm>
          <a:prstGeom prst="rect">
            <a:avLst/>
          </a:prstGeom>
          <a:solidFill>
            <a:srgbClr val="7C4DE8"/>
          </a:solidFill>
          <a:ln/>
        </p:spPr>
        <p:txBody>
          <a:bodyPr/>
          <a:lstStyle/>
          <a:p>
            <a:endParaRPr lang="en-IN"/>
          </a:p>
        </p:txBody>
      </p:sp>
      <p:sp>
        <p:nvSpPr>
          <p:cNvPr id="28" name="Text 26"/>
          <p:cNvSpPr/>
          <p:nvPr/>
        </p:nvSpPr>
        <p:spPr>
          <a:xfrm>
            <a:off x="4648200" y="5522976"/>
            <a:ext cx="3112008"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Beats the workaround: one loop instead of five tools stitched by hand</a:t>
            </a:r>
          </a:p>
        </p:txBody>
      </p:sp>
      <p:sp>
        <p:nvSpPr>
          <p:cNvPr id="29" name="Shape 27"/>
          <p:cNvSpPr/>
          <p:nvPr/>
        </p:nvSpPr>
        <p:spPr>
          <a:xfrm>
            <a:off x="8034528" y="5596128"/>
            <a:ext cx="91440" cy="91440"/>
          </a:xfrm>
          <a:prstGeom prst="rect">
            <a:avLst/>
          </a:prstGeom>
          <a:solidFill>
            <a:srgbClr val="7C4DE8"/>
          </a:solidFill>
          <a:ln/>
        </p:spPr>
        <p:txBody>
          <a:bodyPr/>
          <a:lstStyle/>
          <a:p>
            <a:endParaRPr lang="en-IN"/>
          </a:p>
        </p:txBody>
      </p:sp>
      <p:sp>
        <p:nvSpPr>
          <p:cNvPr id="30" name="Text 28"/>
          <p:cNvSpPr/>
          <p:nvPr/>
        </p:nvSpPr>
        <p:spPr>
          <a:xfrm>
            <a:off x="8253984" y="5522976"/>
            <a:ext cx="3112008"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Agents coordinate through a shared artifact and mesh, never by chatting at each other</a:t>
            </a:r>
          </a:p>
        </p:txBody>
      </p:sp>
      <p:sp>
        <p:nvSpPr>
          <p:cNvPr id="31" name="Text 29"/>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2" name="Text 30"/>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03</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3" name="Shape 31"/>
          <p:cNvSpPr/>
          <p:nvPr/>
        </p:nvSpPr>
        <p:spPr>
          <a:xfrm>
            <a:off x="11722608" y="6391656"/>
            <a:ext cx="173736" cy="173736"/>
          </a:xfrm>
          <a:prstGeom prst="rect">
            <a:avLst/>
          </a:prstGeom>
          <a:solidFill>
            <a:srgbClr val="7C4DE8"/>
          </a:solidFill>
          <a:ln/>
        </p:spPr>
        <p:txBody>
          <a:bodyPr/>
          <a:lstStyle/>
          <a:p>
            <a:endParaRPr lang="en-IN"/>
          </a:p>
        </p:txBody>
      </p:sp>
      <p:sp>
        <p:nvSpPr>
          <p:cNvPr id="34" name="Shape 32"/>
          <p:cNvSpPr/>
          <p:nvPr/>
        </p:nvSpPr>
        <p:spPr>
          <a:xfrm>
            <a:off x="11769517" y="6438565"/>
            <a:ext cx="79919" cy="79919"/>
          </a:xfrm>
          <a:prstGeom prst="rect">
            <a:avLst/>
          </a:prstGeom>
          <a:solidFill>
            <a:srgbClr val="FFFFFF"/>
          </a:solidFill>
          <a:ln/>
        </p:spPr>
        <p:txBody>
          <a:bodyPr/>
          <a:lstStyle/>
          <a:p>
            <a:endParaRPr lang="en-IN"/>
          </a:p>
        </p:txBody>
      </p:sp>
      <p:sp>
        <p:nvSpPr>
          <p:cNvPr id="35" name="Shape 33"/>
          <p:cNvSpPr/>
          <p:nvPr/>
        </p:nvSpPr>
        <p:spPr>
          <a:xfrm>
            <a:off x="11752143" y="6356909"/>
            <a:ext cx="29535" cy="34747"/>
          </a:xfrm>
          <a:prstGeom prst="rect">
            <a:avLst/>
          </a:prstGeom>
          <a:solidFill>
            <a:srgbClr val="7C4DE8"/>
          </a:solidFill>
          <a:ln/>
        </p:spPr>
        <p:txBody>
          <a:bodyPr/>
          <a:lstStyle/>
          <a:p>
            <a:endParaRPr lang="en-IN"/>
          </a:p>
        </p:txBody>
      </p:sp>
      <p:sp>
        <p:nvSpPr>
          <p:cNvPr id="36" name="Shape 34"/>
          <p:cNvSpPr/>
          <p:nvPr/>
        </p:nvSpPr>
        <p:spPr>
          <a:xfrm>
            <a:off x="11752143" y="6565392"/>
            <a:ext cx="29535" cy="34747"/>
          </a:xfrm>
          <a:prstGeom prst="rect">
            <a:avLst/>
          </a:prstGeom>
          <a:solidFill>
            <a:srgbClr val="7C4DE8"/>
          </a:solidFill>
          <a:ln/>
        </p:spPr>
        <p:txBody>
          <a:bodyPr/>
          <a:lstStyle/>
          <a:p>
            <a:endParaRPr lang="en-IN"/>
          </a:p>
        </p:txBody>
      </p:sp>
      <p:sp>
        <p:nvSpPr>
          <p:cNvPr id="37" name="Shape 35"/>
          <p:cNvSpPr/>
          <p:nvPr/>
        </p:nvSpPr>
        <p:spPr>
          <a:xfrm>
            <a:off x="11687861" y="6421191"/>
            <a:ext cx="34747" cy="29535"/>
          </a:xfrm>
          <a:prstGeom prst="rect">
            <a:avLst/>
          </a:prstGeom>
          <a:solidFill>
            <a:srgbClr val="7C4DE8"/>
          </a:solidFill>
          <a:ln/>
        </p:spPr>
        <p:txBody>
          <a:bodyPr/>
          <a:lstStyle/>
          <a:p>
            <a:endParaRPr lang="en-IN"/>
          </a:p>
        </p:txBody>
      </p:sp>
      <p:sp>
        <p:nvSpPr>
          <p:cNvPr id="38" name="Shape 36"/>
          <p:cNvSpPr/>
          <p:nvPr/>
        </p:nvSpPr>
        <p:spPr>
          <a:xfrm>
            <a:off x="11896344" y="6421191"/>
            <a:ext cx="34747" cy="29535"/>
          </a:xfrm>
          <a:prstGeom prst="rect">
            <a:avLst/>
          </a:prstGeom>
          <a:solidFill>
            <a:srgbClr val="7C4DE8"/>
          </a:solidFill>
          <a:ln/>
        </p:spPr>
        <p:txBody>
          <a:bodyPr/>
          <a:lstStyle/>
          <a:p>
            <a:endParaRPr lang="en-IN"/>
          </a:p>
        </p:txBody>
      </p:sp>
      <p:sp>
        <p:nvSpPr>
          <p:cNvPr id="39" name="Shape 37"/>
          <p:cNvSpPr/>
          <p:nvPr/>
        </p:nvSpPr>
        <p:spPr>
          <a:xfrm>
            <a:off x="11837274" y="6356909"/>
            <a:ext cx="29535" cy="34747"/>
          </a:xfrm>
          <a:prstGeom prst="rect">
            <a:avLst/>
          </a:prstGeom>
          <a:solidFill>
            <a:srgbClr val="7C4DE8"/>
          </a:solidFill>
          <a:ln/>
        </p:spPr>
        <p:txBody>
          <a:bodyPr/>
          <a:lstStyle/>
          <a:p>
            <a:endParaRPr lang="en-IN"/>
          </a:p>
        </p:txBody>
      </p:sp>
      <p:sp>
        <p:nvSpPr>
          <p:cNvPr id="40" name="Shape 38"/>
          <p:cNvSpPr/>
          <p:nvPr/>
        </p:nvSpPr>
        <p:spPr>
          <a:xfrm>
            <a:off x="11837274" y="6565392"/>
            <a:ext cx="29535" cy="34747"/>
          </a:xfrm>
          <a:prstGeom prst="rect">
            <a:avLst/>
          </a:prstGeom>
          <a:solidFill>
            <a:srgbClr val="7C4DE8"/>
          </a:solidFill>
          <a:ln/>
        </p:spPr>
        <p:txBody>
          <a:bodyPr/>
          <a:lstStyle/>
          <a:p>
            <a:endParaRPr lang="en-IN"/>
          </a:p>
        </p:txBody>
      </p:sp>
      <p:sp>
        <p:nvSpPr>
          <p:cNvPr id="41" name="Shape 39"/>
          <p:cNvSpPr/>
          <p:nvPr/>
        </p:nvSpPr>
        <p:spPr>
          <a:xfrm>
            <a:off x="11687861" y="6506322"/>
            <a:ext cx="34747" cy="29535"/>
          </a:xfrm>
          <a:prstGeom prst="rect">
            <a:avLst/>
          </a:prstGeom>
          <a:solidFill>
            <a:srgbClr val="7C4DE8"/>
          </a:solidFill>
          <a:ln/>
        </p:spPr>
        <p:txBody>
          <a:bodyPr/>
          <a:lstStyle/>
          <a:p>
            <a:endParaRPr lang="en-IN"/>
          </a:p>
        </p:txBody>
      </p:sp>
      <p:sp>
        <p:nvSpPr>
          <p:cNvPr id="42" name="Shape 40"/>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04</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HOW IT WORKS</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under the hood</a:t>
            </a:r>
            <a:endParaRPr lang="en-US" sz="1100" dirty="0"/>
          </a:p>
        </p:txBody>
      </p:sp>
      <p:sp>
        <p:nvSpPr>
          <p:cNvPr id="18" name="Text 16"/>
          <p:cNvSpPr/>
          <p:nvPr/>
        </p:nvSpPr>
        <p:spPr>
          <a:xfrm>
            <a:off x="822960" y="2103120"/>
            <a:ext cx="5486400" cy="685800"/>
          </a:xfrm>
          <a:prstGeom prst="rect">
            <a:avLst/>
          </a:prstGeom>
          <a:noFill/>
          <a:ln/>
        </p:spPr>
        <p:txBody>
          <a:bodyPr wrap="square" lIns="0" tIns="0" rIns="0" bIns="0" rtlCol="0" anchor="ctr"/>
          <a:lstStyle/>
          <a:p>
            <a:pPr marL="0" indent="0">
              <a:buNone/>
            </a:pPr>
            <a:r>
              <a:rPr lang="en-US" sz="1800" b="1" dirty="0">
                <a:solidFill>
                  <a:srgbClr val="0E141B"/>
                </a:solidFill>
                <a:latin typeface="Arial" pitchFamily="34" charset="0"/>
                <a:ea typeface="Arial" pitchFamily="34" charset="-122"/>
                <a:cs typeface="Arial" pitchFamily="34" charset="-120"/>
              </a:rPr>
              <a:t>How does it actually work?</a:t>
            </a:r>
            <a:endParaRPr lang="en-US" sz="1800" dirty="0"/>
          </a:p>
        </p:txBody>
      </p:sp>
      <p:sp>
        <p:nvSpPr>
          <p:cNvPr id="19" name="Shape 17"/>
          <p:cNvSpPr/>
          <p:nvPr/>
        </p:nvSpPr>
        <p:spPr>
          <a:xfrm>
            <a:off x="822960" y="2889504"/>
            <a:ext cx="5486400" cy="2121408"/>
          </a:xfrm>
          <a:prstGeom prst="roundRect">
            <a:avLst>
              <a:gd name="adj" fmla="val 1724"/>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889504"/>
            <a:ext cx="5193792" cy="2121408"/>
          </a:xfrm>
          <a:prstGeom prst="rect">
            <a:avLst/>
          </a:prstGeom>
          <a:noFill/>
          <a:ln/>
        </p:spPr>
        <p:txBody>
          <a:bodyPr wrap="square" lIns="762" tIns="762" rIns="762" bIns="762" rtlCol="0" anchor="t"/>
          <a:lstStyle/>
          <a:p>
            <a:pPr marL="0" indent="0">
              <a:spcAft>
                <a:spcPts val="0"/>
              </a:spcAft>
              <a:buNone/>
            </a:pPr>
            <a:r>
              <a:rPr lang="en-US" sz="1000" i="0" dirty="0">
                <a:solidFill>
                  <a:srgbClr val="2A3441"/>
                </a:solidFill>
                <a:latin typeface="Arial" pitchFamily="34" charset="0"/>
                <a:ea typeface="Arial" pitchFamily="34" charset="-122"/>
                <a:cs typeface="Arial" pitchFamily="34" charset="-120"/>
              </a:rPr>
              <a:t>1 · Config — devOrchestrator.yaml names the board, git server, agent and role.</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2 · Task — REST call to Plane; the dev picks from a Rich table.  ← human</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3 · Branch — feature/&lt;task-slug&gt; created via the Gitea API, checked out.</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4 · Research — claude -p in tmux pane 1 reads the codebase → artifact.md.</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5 · Implement — claude -p in tmux pane 2 works the artifact, live.  ← human reviews</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6 · Gate — ruff, gitleaks, pytest; --autofix re-invokes the agent on failure.</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7 · PR — description written from git log + artifact, PR opened and linked.</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8 · Ship — TL approves → CI → Coolify deploy → health check → task closed.</a:t>
            </a:r>
          </a:p>
          <a:p>
            <a:pPr marL="0" indent="0">
              <a:spcAft>
                <a:spcPts val="0"/>
              </a:spcAft>
              <a:buNone/>
            </a:pPr>
            <a:endParaRPr lang="en-US" sz="10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Each stage writes an event to the SQLite mesh, so a second dev is warned before touching a module someone else is already refactoring.</a:t>
            </a:r>
          </a:p>
        </p:txBody>
      </p:sp>
      <p:sp>
        <p:nvSpPr>
          <p:cNvPr id="21" name="Shape 19"/>
          <p:cNvSpPr/>
          <p:nvPr/>
        </p:nvSpPr>
        <p:spPr>
          <a:xfrm>
            <a:off x="6629400" y="2103120"/>
            <a:ext cx="4736592" cy="2907792"/>
          </a:xfrm>
          <a:prstGeom prst="roundRect">
            <a:avLst>
              <a:gd name="adj" fmla="val 629"/>
            </a:avLst>
          </a:prstGeom>
          <a:solidFill>
            <a:srgbClr val="FAFBFC"/>
          </a:solidFill>
          <a:ln w="12700">
            <a:solidFill>
              <a:srgbClr val="7C4DE8"/>
            </a:solidFill>
            <a:prstDash val="dash"/>
          </a:ln>
        </p:spPr>
        <p:txBody>
          <a:bodyPr/>
          <a:lstStyle/>
          <a:p>
            <a:endParaRPr lang="en-IN"/>
          </a:p>
        </p:txBody>
      </p:sp>
      <p:sp>
        <p:nvSpPr>
          <p:cNvPr id="22" name="Text 20"/>
          <p:cNvSpPr/>
          <p:nvPr/>
        </p:nvSpPr>
        <p:spPr>
          <a:xfrm>
            <a:off x="6629400" y="2249424"/>
            <a:ext cx="4736592" cy="274320"/>
          </a:xfrm>
          <a:prstGeom prst="rect">
            <a:avLst/>
          </a:prstGeom>
          <a:noFill/>
          <a:ln/>
        </p:spPr>
        <p:txBody>
          <a:bodyPr wrap="square" lIns="0" tIns="0" rIns="0" bIns="0" rtlCol="0" anchor="ctr"/>
          <a:lstStyle/>
          <a:p>
            <a:pPr marL="0" indent="0" algn="ctr">
              <a:buNone/>
            </a:pPr>
            <a:r>
              <a:rPr lang="en-US" sz="950" b="1" i="0" kern="0" spc="120" dirty="0">
                <a:solidFill>
                  <a:srgbClr val="7C4DE8"/>
                </a:solidFill>
                <a:latin typeface="Consolas" pitchFamily="34" charset="0"/>
                <a:ea typeface="Consolas" pitchFamily="34" charset="-122"/>
                <a:cs typeface="Consolas" pitchFamily="34" charset="-120"/>
              </a:rPr>
              <a:t>ARCHITECTURE  ·  THE LOOP</a:t>
            </a:r>
          </a:p>
        </p:txBody>
      </p:sp>
      <p:sp>
        <p:nvSpPr>
          <p:cNvPr id="24" name="Text 22"/>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5" name="Shape 23"/>
          <p:cNvSpPr/>
          <p:nvPr/>
        </p:nvSpPr>
        <p:spPr>
          <a:xfrm>
            <a:off x="822960" y="5596128"/>
            <a:ext cx="91440" cy="91440"/>
          </a:xfrm>
          <a:prstGeom prst="rect">
            <a:avLst/>
          </a:prstGeom>
          <a:solidFill>
            <a:srgbClr val="7C4DE8"/>
          </a:solidFill>
          <a:ln/>
        </p:spPr>
        <p:txBody>
          <a:bodyPr/>
          <a:lstStyle/>
          <a:p>
            <a:endParaRPr lang="en-IN"/>
          </a:p>
        </p:txBody>
      </p:sp>
      <p:sp>
        <p:nvSpPr>
          <p:cNvPr id="26" name="Text 24"/>
          <p:cNvSpPr/>
          <p:nvPr/>
        </p:nvSpPr>
        <p:spPr>
          <a:xfrm>
            <a:off x="1042416"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Claude Code CLI · Python 3.12 · libtmux · Rich · httpx · SQLite</a:t>
            </a:r>
          </a:p>
        </p:txBody>
      </p:sp>
      <p:sp>
        <p:nvSpPr>
          <p:cNvPr id="27" name="Shape 25"/>
          <p:cNvSpPr/>
          <p:nvPr/>
        </p:nvSpPr>
        <p:spPr>
          <a:xfrm>
            <a:off x="3527298" y="5596128"/>
            <a:ext cx="91440" cy="91440"/>
          </a:xfrm>
          <a:prstGeom prst="rect">
            <a:avLst/>
          </a:prstGeom>
          <a:solidFill>
            <a:srgbClr val="7C4DE8"/>
          </a:solidFill>
          <a:ln/>
        </p:spPr>
        <p:txBody>
          <a:bodyPr/>
          <a:lstStyle/>
          <a:p>
            <a:endParaRPr lang="en-IN"/>
          </a:p>
        </p:txBody>
      </p:sp>
      <p:sp>
        <p:nvSpPr>
          <p:cNvPr id="28" name="Text 26"/>
          <p:cNvSpPr/>
          <p:nvPr/>
        </p:nvSpPr>
        <p:spPr>
          <a:xfrm>
            <a:off x="3746754"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Agent as a subprocess in tmux: no API key, and you can watch it work</a:t>
            </a:r>
          </a:p>
        </p:txBody>
      </p:sp>
      <p:sp>
        <p:nvSpPr>
          <p:cNvPr id="29" name="Shape 27"/>
          <p:cNvSpPr/>
          <p:nvPr/>
        </p:nvSpPr>
        <p:spPr>
          <a:xfrm>
            <a:off x="6231636" y="5596128"/>
            <a:ext cx="91440" cy="91440"/>
          </a:xfrm>
          <a:prstGeom prst="rect">
            <a:avLst/>
          </a:prstGeom>
          <a:solidFill>
            <a:srgbClr val="7C4DE8"/>
          </a:solidFill>
          <a:ln/>
        </p:spPr>
        <p:txBody>
          <a:bodyPr/>
          <a:lstStyle/>
          <a:p>
            <a:endParaRPr lang="en-IN"/>
          </a:p>
        </p:txBody>
      </p:sp>
      <p:sp>
        <p:nvSpPr>
          <p:cNvPr id="30" name="Text 28"/>
          <p:cNvSpPr/>
          <p:nvPr/>
        </p:nvSpPr>
        <p:spPr>
          <a:xfrm>
            <a:off x="6451092"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Detecting rate limits in agent stderr and rotating sessions live</a:t>
            </a:r>
          </a:p>
        </p:txBody>
      </p:sp>
      <p:sp>
        <p:nvSpPr>
          <p:cNvPr id="31" name="Shape 29"/>
          <p:cNvSpPr/>
          <p:nvPr/>
        </p:nvSpPr>
        <p:spPr>
          <a:xfrm>
            <a:off x="8935974" y="5596128"/>
            <a:ext cx="91440" cy="91440"/>
          </a:xfrm>
          <a:prstGeom prst="rect">
            <a:avLst/>
          </a:prstGeom>
          <a:solidFill>
            <a:srgbClr val="7C4DE8"/>
          </a:solidFill>
          <a:ln/>
        </p:spPr>
        <p:txBody>
          <a:bodyPr/>
          <a:lstStyle/>
          <a:p>
            <a:endParaRPr lang="en-IN"/>
          </a:p>
        </p:txBody>
      </p:sp>
      <p:sp>
        <p:nvSpPr>
          <p:cNvPr id="32" name="Text 30"/>
          <p:cNvSpPr/>
          <p:nvPr/>
        </p:nvSpPr>
        <p:spPr>
          <a:xfrm>
            <a:off x="9155430"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Every run is gated by ruff, gitleaks and pytest before a PR exists</a:t>
            </a:r>
          </a:p>
        </p:txBody>
      </p:sp>
      <p:sp>
        <p:nvSpPr>
          <p:cNvPr id="33" name="Text 31"/>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4" name="Text 32"/>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04</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5" name="Shape 33"/>
          <p:cNvSpPr/>
          <p:nvPr/>
        </p:nvSpPr>
        <p:spPr>
          <a:xfrm>
            <a:off x="11722608" y="6391656"/>
            <a:ext cx="173736" cy="173736"/>
          </a:xfrm>
          <a:prstGeom prst="rect">
            <a:avLst/>
          </a:prstGeom>
          <a:solidFill>
            <a:srgbClr val="7C4DE8"/>
          </a:solidFill>
          <a:ln/>
        </p:spPr>
        <p:txBody>
          <a:bodyPr/>
          <a:lstStyle/>
          <a:p>
            <a:endParaRPr lang="en-IN"/>
          </a:p>
        </p:txBody>
      </p:sp>
      <p:sp>
        <p:nvSpPr>
          <p:cNvPr id="36" name="Shape 34"/>
          <p:cNvSpPr/>
          <p:nvPr/>
        </p:nvSpPr>
        <p:spPr>
          <a:xfrm>
            <a:off x="11769517" y="6438565"/>
            <a:ext cx="79919" cy="79919"/>
          </a:xfrm>
          <a:prstGeom prst="rect">
            <a:avLst/>
          </a:prstGeom>
          <a:solidFill>
            <a:srgbClr val="FFFFFF"/>
          </a:solidFill>
          <a:ln/>
        </p:spPr>
        <p:txBody>
          <a:bodyPr/>
          <a:lstStyle/>
          <a:p>
            <a:endParaRPr lang="en-IN"/>
          </a:p>
        </p:txBody>
      </p:sp>
      <p:sp>
        <p:nvSpPr>
          <p:cNvPr id="37" name="Shape 35"/>
          <p:cNvSpPr/>
          <p:nvPr/>
        </p:nvSpPr>
        <p:spPr>
          <a:xfrm>
            <a:off x="11752143" y="6356909"/>
            <a:ext cx="29535" cy="34747"/>
          </a:xfrm>
          <a:prstGeom prst="rect">
            <a:avLst/>
          </a:prstGeom>
          <a:solidFill>
            <a:srgbClr val="7C4DE8"/>
          </a:solidFill>
          <a:ln/>
        </p:spPr>
        <p:txBody>
          <a:bodyPr/>
          <a:lstStyle/>
          <a:p>
            <a:endParaRPr lang="en-IN"/>
          </a:p>
        </p:txBody>
      </p:sp>
      <p:sp>
        <p:nvSpPr>
          <p:cNvPr id="38" name="Shape 36"/>
          <p:cNvSpPr/>
          <p:nvPr/>
        </p:nvSpPr>
        <p:spPr>
          <a:xfrm>
            <a:off x="11752143" y="6565392"/>
            <a:ext cx="29535" cy="34747"/>
          </a:xfrm>
          <a:prstGeom prst="rect">
            <a:avLst/>
          </a:prstGeom>
          <a:solidFill>
            <a:srgbClr val="7C4DE8"/>
          </a:solidFill>
          <a:ln/>
        </p:spPr>
        <p:txBody>
          <a:bodyPr/>
          <a:lstStyle/>
          <a:p>
            <a:endParaRPr lang="en-IN"/>
          </a:p>
        </p:txBody>
      </p:sp>
      <p:sp>
        <p:nvSpPr>
          <p:cNvPr id="39" name="Shape 37"/>
          <p:cNvSpPr/>
          <p:nvPr/>
        </p:nvSpPr>
        <p:spPr>
          <a:xfrm>
            <a:off x="11687861" y="6421191"/>
            <a:ext cx="34747" cy="29535"/>
          </a:xfrm>
          <a:prstGeom prst="rect">
            <a:avLst/>
          </a:prstGeom>
          <a:solidFill>
            <a:srgbClr val="7C4DE8"/>
          </a:solidFill>
          <a:ln/>
        </p:spPr>
        <p:txBody>
          <a:bodyPr/>
          <a:lstStyle/>
          <a:p>
            <a:endParaRPr lang="en-IN"/>
          </a:p>
        </p:txBody>
      </p:sp>
      <p:sp>
        <p:nvSpPr>
          <p:cNvPr id="40" name="Shape 38"/>
          <p:cNvSpPr/>
          <p:nvPr/>
        </p:nvSpPr>
        <p:spPr>
          <a:xfrm>
            <a:off x="11896344" y="6421191"/>
            <a:ext cx="34747" cy="29535"/>
          </a:xfrm>
          <a:prstGeom prst="rect">
            <a:avLst/>
          </a:prstGeom>
          <a:solidFill>
            <a:srgbClr val="7C4DE8"/>
          </a:solidFill>
          <a:ln/>
        </p:spPr>
        <p:txBody>
          <a:bodyPr/>
          <a:lstStyle/>
          <a:p>
            <a:endParaRPr lang="en-IN"/>
          </a:p>
        </p:txBody>
      </p:sp>
      <p:sp>
        <p:nvSpPr>
          <p:cNvPr id="41" name="Shape 39"/>
          <p:cNvSpPr/>
          <p:nvPr/>
        </p:nvSpPr>
        <p:spPr>
          <a:xfrm>
            <a:off x="11837274" y="6356909"/>
            <a:ext cx="29535" cy="34747"/>
          </a:xfrm>
          <a:prstGeom prst="rect">
            <a:avLst/>
          </a:prstGeom>
          <a:solidFill>
            <a:srgbClr val="7C4DE8"/>
          </a:solidFill>
          <a:ln/>
        </p:spPr>
        <p:txBody>
          <a:bodyPr/>
          <a:lstStyle/>
          <a:p>
            <a:endParaRPr lang="en-IN"/>
          </a:p>
        </p:txBody>
      </p:sp>
      <p:sp>
        <p:nvSpPr>
          <p:cNvPr id="42" name="Shape 40"/>
          <p:cNvSpPr/>
          <p:nvPr/>
        </p:nvSpPr>
        <p:spPr>
          <a:xfrm>
            <a:off x="11837274" y="6565392"/>
            <a:ext cx="29535" cy="34747"/>
          </a:xfrm>
          <a:prstGeom prst="rect">
            <a:avLst/>
          </a:prstGeom>
          <a:solidFill>
            <a:srgbClr val="7C4DE8"/>
          </a:solidFill>
          <a:ln/>
        </p:spPr>
        <p:txBody>
          <a:bodyPr/>
          <a:lstStyle/>
          <a:p>
            <a:endParaRPr lang="en-IN"/>
          </a:p>
        </p:txBody>
      </p:sp>
      <p:sp>
        <p:nvSpPr>
          <p:cNvPr id="43" name="Shape 41"/>
          <p:cNvSpPr/>
          <p:nvPr/>
        </p:nvSpPr>
        <p:spPr>
          <a:xfrm>
            <a:off x="11687861" y="6506322"/>
            <a:ext cx="34747" cy="29535"/>
          </a:xfrm>
          <a:prstGeom prst="rect">
            <a:avLst/>
          </a:prstGeom>
          <a:solidFill>
            <a:srgbClr val="7C4DE8"/>
          </a:solidFill>
          <a:ln/>
        </p:spPr>
        <p:txBody>
          <a:bodyPr/>
          <a:lstStyle/>
          <a:p>
            <a:endParaRPr lang="en-IN"/>
          </a:p>
        </p:txBody>
      </p:sp>
      <p:sp>
        <p:nvSpPr>
          <p:cNvPr id="44" name="Shape 42"/>
          <p:cNvSpPr/>
          <p:nvPr/>
        </p:nvSpPr>
        <p:spPr>
          <a:xfrm>
            <a:off x="11896344" y="6506322"/>
            <a:ext cx="34747" cy="29535"/>
          </a:xfrm>
          <a:prstGeom prst="rect">
            <a:avLst/>
          </a:prstGeom>
          <a:solidFill>
            <a:srgbClr val="7C4DE8"/>
          </a:solidFill>
          <a:ln/>
        </p:spPr>
        <p:txBody>
          <a:bodyPr/>
          <a:lstStyle/>
          <a:p>
            <a:endParaRPr lang="en-IN"/>
          </a:p>
        </p:txBody>
      </p:sp>
      <p:sp>
        <p:nvSpPr>
          <p:cNvPr id="45" name="Rounded Rectangle 44"/>
          <p:cNvSpPr/>
          <p:nvPr/>
        </p:nvSpPr>
        <p:spPr>
          <a:xfrm>
            <a:off x="6876288" y="2615184"/>
            <a:ext cx="4242816" cy="205740"/>
          </a:xfrm>
          <a:prstGeom prst="roundRect">
            <a:avLst>
              <a:gd name="adj" fmla="val 12000"/>
            </a:avLst>
          </a:prstGeom>
          <a:solidFill>
            <a:srgbClr val="F4F6F8"/>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0">
                <a:solidFill>
                  <a:srgbClr val="2A3441"/>
                </a:solidFill>
                <a:latin typeface="Consolas"/>
              </a:rPr>
              <a:t>devOrchestrator.yaml  →  board · git · agent · role</a:t>
            </a:r>
          </a:p>
        </p:txBody>
      </p:sp>
      <p:sp>
        <p:nvSpPr>
          <p:cNvPr id="46" name="Rectangle 45"/>
          <p:cNvSpPr/>
          <p:nvPr/>
        </p:nvSpPr>
        <p:spPr>
          <a:xfrm>
            <a:off x="7150608" y="2820924"/>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876288" y="2868929"/>
            <a:ext cx="4242816" cy="205740"/>
          </a:xfrm>
          <a:prstGeom prst="roundRect">
            <a:avLst>
              <a:gd name="adj" fmla="val 12000"/>
            </a:avLst>
          </a:prstGeom>
          <a:solidFill>
            <a:srgbClr val="F1EDFD"/>
          </a:solidFill>
          <a:ln w="9525">
            <a:solidFill>
              <a:srgbClr val="7C4D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1">
                <a:solidFill>
                  <a:srgbClr val="7C4DE8"/>
                </a:solidFill>
                <a:latin typeface="Consolas"/>
              </a:rPr>
              <a:t>Plane / Azure Boards  →  pick task   ← human</a:t>
            </a:r>
          </a:p>
        </p:txBody>
      </p:sp>
      <p:sp>
        <p:nvSpPr>
          <p:cNvPr id="48" name="Rectangle 47"/>
          <p:cNvSpPr/>
          <p:nvPr/>
        </p:nvSpPr>
        <p:spPr>
          <a:xfrm>
            <a:off x="7150608" y="3074670"/>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876288" y="3122676"/>
            <a:ext cx="4242816" cy="205740"/>
          </a:xfrm>
          <a:prstGeom prst="roundRect">
            <a:avLst>
              <a:gd name="adj" fmla="val 12000"/>
            </a:avLst>
          </a:prstGeom>
          <a:solidFill>
            <a:srgbClr val="F4F6F8"/>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0">
                <a:solidFill>
                  <a:srgbClr val="2A3441"/>
                </a:solidFill>
                <a:latin typeface="Consolas"/>
              </a:rPr>
              <a:t>Gitea / Azure Repos  →  feature branch</a:t>
            </a:r>
          </a:p>
        </p:txBody>
      </p:sp>
      <p:sp>
        <p:nvSpPr>
          <p:cNvPr id="50" name="Rectangle 49"/>
          <p:cNvSpPr/>
          <p:nvPr/>
        </p:nvSpPr>
        <p:spPr>
          <a:xfrm>
            <a:off x="7150608" y="3328416"/>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6876288" y="3376422"/>
            <a:ext cx="4242816" cy="205740"/>
          </a:xfrm>
          <a:prstGeom prst="roundRect">
            <a:avLst>
              <a:gd name="adj" fmla="val 12000"/>
            </a:avLst>
          </a:prstGeom>
          <a:solidFill>
            <a:srgbClr val="F4F6F8"/>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0">
                <a:solidFill>
                  <a:srgbClr val="2A3441"/>
                </a:solidFill>
                <a:latin typeface="Consolas"/>
              </a:rPr>
              <a:t>tmux 1 · claude -p  →  artifact.md</a:t>
            </a:r>
          </a:p>
        </p:txBody>
      </p:sp>
      <p:sp>
        <p:nvSpPr>
          <p:cNvPr id="52" name="Rectangle 51"/>
          <p:cNvSpPr/>
          <p:nvPr/>
        </p:nvSpPr>
        <p:spPr>
          <a:xfrm>
            <a:off x="7150608" y="3582162"/>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876288" y="3630168"/>
            <a:ext cx="4242816" cy="205740"/>
          </a:xfrm>
          <a:prstGeom prst="roundRect">
            <a:avLst>
              <a:gd name="adj" fmla="val 12000"/>
            </a:avLst>
          </a:prstGeom>
          <a:solidFill>
            <a:srgbClr val="F1EDFD"/>
          </a:solidFill>
          <a:ln w="9525">
            <a:solidFill>
              <a:srgbClr val="7C4D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1">
                <a:solidFill>
                  <a:srgbClr val="7C4DE8"/>
                </a:solidFill>
                <a:latin typeface="Consolas"/>
              </a:rPr>
              <a:t>tmux 2 · claude -p  →  implementation   ← human</a:t>
            </a:r>
          </a:p>
        </p:txBody>
      </p:sp>
      <p:sp>
        <p:nvSpPr>
          <p:cNvPr id="54" name="Rectangle 53"/>
          <p:cNvSpPr/>
          <p:nvPr/>
        </p:nvSpPr>
        <p:spPr>
          <a:xfrm>
            <a:off x="7150608" y="3835907"/>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876288" y="3883914"/>
            <a:ext cx="4242816" cy="205740"/>
          </a:xfrm>
          <a:prstGeom prst="roundRect">
            <a:avLst>
              <a:gd name="adj" fmla="val 12000"/>
            </a:avLst>
          </a:prstGeom>
          <a:solidFill>
            <a:srgbClr val="F4F6F8"/>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0">
                <a:solidFill>
                  <a:srgbClr val="2A3441"/>
                </a:solidFill>
                <a:latin typeface="Consolas"/>
              </a:rPr>
              <a:t>ruff · gitleaks · pytest  →  --autofix</a:t>
            </a:r>
          </a:p>
        </p:txBody>
      </p:sp>
      <p:sp>
        <p:nvSpPr>
          <p:cNvPr id="56" name="Rectangle 55"/>
          <p:cNvSpPr/>
          <p:nvPr/>
        </p:nvSpPr>
        <p:spPr>
          <a:xfrm>
            <a:off x="7150608" y="4089654"/>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6876288" y="4137660"/>
            <a:ext cx="4242816" cy="205740"/>
          </a:xfrm>
          <a:prstGeom prst="roundRect">
            <a:avLst>
              <a:gd name="adj" fmla="val 12000"/>
            </a:avLst>
          </a:prstGeom>
          <a:solidFill>
            <a:srgbClr val="F1EDFD"/>
          </a:solidFill>
          <a:ln w="9525">
            <a:solidFill>
              <a:srgbClr val="7C4D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1">
                <a:solidFill>
                  <a:srgbClr val="7C4DE8"/>
                </a:solidFill>
                <a:latin typeface="Consolas"/>
              </a:rPr>
              <a:t>PR opened  →  TL approve / reject   ← human</a:t>
            </a:r>
          </a:p>
        </p:txBody>
      </p:sp>
      <p:sp>
        <p:nvSpPr>
          <p:cNvPr id="58" name="Rectangle 57"/>
          <p:cNvSpPr/>
          <p:nvPr/>
        </p:nvSpPr>
        <p:spPr>
          <a:xfrm>
            <a:off x="7150608" y="4343400"/>
            <a:ext cx="10972" cy="48006"/>
          </a:xfrm>
          <a:prstGeom prst="rect">
            <a:avLst/>
          </a:prstGeom>
          <a:solidFill>
            <a:srgbClr val="CFC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6876288" y="4391406"/>
            <a:ext cx="4242816" cy="205740"/>
          </a:xfrm>
          <a:prstGeom prst="roundRect">
            <a:avLst>
              <a:gd name="adj" fmla="val 12000"/>
            </a:avLst>
          </a:prstGeom>
          <a:solidFill>
            <a:srgbClr val="F4F6F8"/>
          </a:solidFill>
          <a:ln w="9525">
            <a:solidFill>
              <a:srgbClr val="DDE2E8"/>
            </a:solidFill>
          </a:ln>
          <a:effectLst/>
        </p:spPr>
        <p:style>
          <a:lnRef idx="1">
            <a:schemeClr val="accent1"/>
          </a:lnRef>
          <a:fillRef idx="3">
            <a:schemeClr val="accent1"/>
          </a:fillRef>
          <a:effectRef idx="2">
            <a:schemeClr val="accent1"/>
          </a:effectRef>
          <a:fontRef idx="minor">
            <a:schemeClr val="lt1"/>
          </a:fontRef>
        </p:style>
        <p:txBody>
          <a:bodyPr wrap="none" tIns="0" rIns="36576" bIns="0" rtlCol="0" anchor="ctr"/>
          <a:lstStyle/>
          <a:p>
            <a:pPr algn="ctr"/>
            <a:r>
              <a:rPr sz="800" b="0">
                <a:solidFill>
                  <a:srgbClr val="2A3441"/>
                </a:solidFill>
                <a:latin typeface="Consolas"/>
              </a:rPr>
              <a:t>CI  →  deploy  →  close task  →  notify</a:t>
            </a:r>
          </a:p>
        </p:txBody>
      </p:sp>
      <p:sp>
        <p:nvSpPr>
          <p:cNvPr id="60" name="Rounded Rectangle 59"/>
          <p:cNvSpPr/>
          <p:nvPr/>
        </p:nvSpPr>
        <p:spPr>
          <a:xfrm>
            <a:off x="6876288" y="4645152"/>
            <a:ext cx="4242816" cy="205740"/>
          </a:xfrm>
          <a:prstGeom prst="roundRect">
            <a:avLst>
              <a:gd name="adj" fmla="val 12000"/>
            </a:avLst>
          </a:prstGeom>
          <a:solidFill>
            <a:srgbClr val="0E141B"/>
          </a:solidFill>
          <a:ln>
            <a:noFill/>
          </a:ln>
          <a:effectLst/>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800" b="1">
                <a:solidFill>
                  <a:srgbClr val="FFFFFF"/>
                </a:solidFill>
                <a:latin typeface="Consolas"/>
              </a:rPr>
              <a:t>SQLite context mesh   ←  every stage writes 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05</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CAN IT ACTUALLY RUN?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the reality check</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Can you build this for real, and keep it running?</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spcAft>
                <a:spcPts val="0"/>
              </a:spcAft>
              <a:buNone/>
            </a:pPr>
            <a:r>
              <a:rPr lang="en-US" sz="1100" i="0" dirty="0">
                <a:solidFill>
                  <a:srgbClr val="2A3441"/>
                </a:solidFill>
                <a:latin typeface="Arial" pitchFamily="34" charset="0"/>
                <a:ea typeface="Arial" pitchFamily="34" charset="-122"/>
                <a:cs typeface="Arial" pitchFamily="34" charset="-120"/>
              </a:rPr>
              <a:t>Yes, and cheaply — the design is deliberately boring. Every step is a subprocess call or a REST call: no model hosting, no GPU, no vector database. The agent runs on an existing Claude Code Pro subscription with no API key, so the marginal cost of a task is a seat plus a fraction of a cent of generated PR text. The whole OSS stack is one docker compose up.</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Where we stand is stated plainly: the architecture, the four-sprint backlog and the artifact and mesh schemas are designed and written down; the CLI is being built against that plan, starting with the inner loop — task, branch, research, implement — before anything touches deploy. A working slice with a known limit beats an over-promised demo.</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The limits are real. We depend on the shape of the claude CLI, so a breaking change breaks invocation — the version is pinned. One Pro account hits rate limits under team load — Sprint 4 adds account rotation. And the loop is only as good as the research step, which is why the artifact is shown to the developer before any code is written.</a:t>
            </a:r>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In scope: task → deploy for one dev. Out: policy engine, multi-role agents</a:t>
            </a:r>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Cost: one Pro seat, plus ~$0.14/M tokens for PR text</a:t>
            </a:r>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Risk: CLI changes and rate limits → pinned version, account rotation</a:t>
            </a:r>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Next: dogfood on our own board, then roll out to a 4-dev team</a:t>
            </a:r>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05</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06</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WHY IT MATTERS</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impact and who benefits</a:t>
            </a:r>
            <a:endParaRPr lang="en-US" sz="1100" dirty="0"/>
          </a:p>
        </p:txBody>
      </p:sp>
      <p:sp>
        <p:nvSpPr>
          <p:cNvPr id="18" name="Text 16"/>
          <p:cNvSpPr/>
          <p:nvPr/>
        </p:nvSpPr>
        <p:spPr>
          <a:xfrm>
            <a:off x="822960" y="2103120"/>
            <a:ext cx="7223760"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Who benefits, and by how much?</a:t>
            </a:r>
            <a:endParaRPr lang="en-US" sz="2100" dirty="0"/>
          </a:p>
        </p:txBody>
      </p:sp>
      <p:sp>
        <p:nvSpPr>
          <p:cNvPr id="19" name="Shape 17"/>
          <p:cNvSpPr/>
          <p:nvPr/>
        </p:nvSpPr>
        <p:spPr>
          <a:xfrm>
            <a:off x="822960" y="2770632"/>
            <a:ext cx="7223760"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6931152" cy="2240280"/>
          </a:xfrm>
          <a:prstGeom prst="rect">
            <a:avLst/>
          </a:prstGeom>
          <a:noFill/>
          <a:ln/>
        </p:spPr>
        <p:txBody>
          <a:bodyPr wrap="square" lIns="762" tIns="762" rIns="762" bIns="762" rtlCol="0" anchor="t"/>
          <a:lstStyle/>
          <a:p>
            <a:pPr marL="0" indent="0">
              <a:spcAft>
                <a:spcPts val="0"/>
              </a:spcAft>
              <a:buNone/>
            </a:pPr>
            <a:r>
              <a:rPr lang="en-US" sz="1100" i="0" dirty="0">
                <a:solidFill>
                  <a:srgbClr val="2A3441"/>
                </a:solidFill>
                <a:latin typeface="Arial" pitchFamily="34" charset="0"/>
                <a:ea typeface="Arial" pitchFamily="34" charset="-122"/>
                <a:cs typeface="Arial" pitchFamily="34" charset="-120"/>
              </a:rPr>
              <a:t>The first beneficiaries are the teams that already pay for a coding agent and still do all the plumbing around it by hand: student project teams, two-to-six person startups, internal tools teams. For them the change is concrete — the courier work stops being their job, and the 30% that was real engineering gets the rest of the week.</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The second is the team lead, who stops chasing status. Approval becomes one screen — the diff, the tests, and the plan that produced them — and the answer to “why was it built this way” is a row in the mesh rather than someone's memory.</a:t>
            </a:r>
          </a:p>
          <a:p>
            <a:pPr marL="0" indent="0">
              <a:spcAft>
                <a:spcPts val="0"/>
              </a:spcAft>
              <a:buNone/>
            </a:pPr>
            <a:endParaRPr lang="en-US" sz="1100" i="0" dirty="0">
              <a:solidFill>
                <a:srgbClr val="2A3441"/>
              </a:solidFill>
              <a:latin typeface="Arial" pitchFamily="34" charset="0"/>
              <a:ea typeface="Arial" pitchFamily="34" charset="-122"/>
              <a:cs typeface="Arial" pitchFamily="34" charset="-120"/>
            </a:endParaRPr>
          </a:p>
          <a:p>
            <a:pPr marL="0" indent="0">
              <a:spcAft>
                <a:spcPts val="0"/>
              </a:spcAft>
              <a:buNone/>
            </a:pPr>
            <a:r>
              <a:rPr lang="en-US" sz="1100" i="0" dirty="0">
                <a:solidFill>
                  <a:srgbClr val="2A3441"/>
                </a:solidFill>
                <a:latin typeface="Arial" pitchFamily="34" charset="0"/>
                <a:ea typeface="Arial" pitchFamily="34" charset="-122"/>
                <a:cs typeface="Arial" pitchFamily="34" charset="-120"/>
              </a:rPr>
              <a:t>It is self-hostable and swappable throughout: Plane and Gitea today, Azure DevOps with a config change, any compliant agent later. Nothing about the loop is tied to one vendor.</a:t>
            </a:r>
          </a:p>
        </p:txBody>
      </p:sp>
      <p:sp>
        <p:nvSpPr>
          <p:cNvPr id="21" name="Shape 19"/>
          <p:cNvSpPr/>
          <p:nvPr/>
        </p:nvSpPr>
        <p:spPr>
          <a:xfrm>
            <a:off x="8366760" y="2103120"/>
            <a:ext cx="2999232" cy="2907792"/>
          </a:xfrm>
          <a:prstGeom prst="roundRect">
            <a:avLst>
              <a:gd name="adj" fmla="val 629"/>
            </a:avLst>
          </a:prstGeom>
          <a:solidFill>
            <a:srgbClr val="0E141B"/>
          </a:solidFill>
          <a:ln/>
        </p:spPr>
        <p:txBody>
          <a:bodyPr/>
          <a:lstStyle/>
          <a:p>
            <a:endParaRPr lang="en-IN"/>
          </a:p>
        </p:txBody>
      </p:sp>
      <p:sp>
        <p:nvSpPr>
          <p:cNvPr id="22" name="Text 20"/>
          <p:cNvSpPr/>
          <p:nvPr/>
        </p:nvSpPr>
        <p:spPr>
          <a:xfrm>
            <a:off x="8622792" y="2322576"/>
            <a:ext cx="2487168" cy="237744"/>
          </a:xfrm>
          <a:prstGeom prst="rect">
            <a:avLst/>
          </a:prstGeom>
          <a:noFill/>
          <a:ln/>
        </p:spPr>
        <p:txBody>
          <a:bodyPr wrap="square" lIns="0" tIns="0" rIns="0" bIns="0" rtlCol="0" anchor="ctr"/>
          <a:lstStyle/>
          <a:p>
            <a:pPr marL="0" indent="0">
              <a:buNone/>
            </a:pPr>
            <a:r>
              <a:rPr lang="en-US" sz="950" b="1" kern="0" spc="120" dirty="0">
                <a:solidFill>
                  <a:srgbClr val="B9A2F4"/>
                </a:solidFill>
                <a:latin typeface="Consolas" pitchFamily="34" charset="0"/>
                <a:ea typeface="Consolas" pitchFamily="34" charset="-122"/>
                <a:cs typeface="Consolas" pitchFamily="34" charset="-120"/>
              </a:rPr>
              <a:t>THE ONE NUMBER</a:t>
            </a:r>
            <a:endParaRPr lang="en-US" sz="950" dirty="0"/>
          </a:p>
        </p:txBody>
      </p:sp>
      <p:sp>
        <p:nvSpPr>
          <p:cNvPr id="23" name="Shape 21"/>
          <p:cNvSpPr/>
          <p:nvPr/>
        </p:nvSpPr>
        <p:spPr>
          <a:xfrm>
            <a:off x="8622792" y="2670048"/>
            <a:ext cx="2487168" cy="1005840"/>
          </a:xfrm>
          <a:prstGeom prst="roundRect">
            <a:avLst>
              <a:gd name="adj" fmla="val 3636"/>
            </a:avLst>
          </a:prstGeom>
          <a:solidFill>
            <a:srgbClr val="18212C"/>
          </a:solidFill>
          <a:ln w="9525">
            <a:solidFill>
              <a:srgbClr val="2A3441"/>
            </a:solidFill>
            <a:prstDash val="solid"/>
          </a:ln>
        </p:spPr>
        <p:txBody>
          <a:bodyPr/>
          <a:lstStyle/>
          <a:p>
            <a:endParaRPr lang="en-IN"/>
          </a:p>
        </p:txBody>
      </p:sp>
      <p:sp>
        <p:nvSpPr>
          <p:cNvPr id="24" name="Text 22"/>
          <p:cNvSpPr/>
          <p:nvPr/>
        </p:nvSpPr>
        <p:spPr>
          <a:xfrm>
            <a:off x="8622792" y="2670048"/>
            <a:ext cx="2487168" cy="1005840"/>
          </a:xfrm>
          <a:prstGeom prst="rect">
            <a:avLst/>
          </a:prstGeom>
          <a:noFill/>
          <a:ln/>
        </p:spPr>
        <p:txBody>
          <a:bodyPr wrap="square" lIns="0" tIns="0" rIns="0" bIns="0" rtlCol="0" anchor="ctr"/>
          <a:lstStyle/>
          <a:p>
            <a:pPr marL="0" indent="0" algn="ctr">
              <a:buNone/>
            </a:pPr>
            <a:r>
              <a:rPr lang="en-US" sz="3400" i="0" dirty="0">
                <a:solidFill>
                  <a:srgbClr val="FFFFFF"/>
                </a:solidFill>
                <a:latin typeface="Arial Black" pitchFamily="34" charset="0"/>
                <a:ea typeface="Arial Black" pitchFamily="34" charset="-122"/>
                <a:cs typeface="Arial Black" pitchFamily="34" charset="-120"/>
              </a:rPr>
              <a:t>60%</a:t>
            </a:r>
          </a:p>
        </p:txBody>
      </p:sp>
      <p:sp>
        <p:nvSpPr>
          <p:cNvPr id="25" name="Shape 23"/>
          <p:cNvSpPr/>
          <p:nvPr/>
        </p:nvSpPr>
        <p:spPr>
          <a:xfrm>
            <a:off x="8622792" y="3840480"/>
            <a:ext cx="2487168" cy="932688"/>
          </a:xfrm>
          <a:prstGeom prst="roundRect">
            <a:avLst>
              <a:gd name="adj" fmla="val 3922"/>
            </a:avLst>
          </a:prstGeom>
          <a:solidFill>
            <a:srgbClr val="18212C"/>
          </a:solidFill>
          <a:ln w="9525">
            <a:solidFill>
              <a:srgbClr val="2A3441"/>
            </a:solidFill>
            <a:prstDash val="solid"/>
          </a:ln>
        </p:spPr>
        <p:txBody>
          <a:bodyPr/>
          <a:lstStyle/>
          <a:p>
            <a:endParaRPr lang="en-IN"/>
          </a:p>
        </p:txBody>
      </p:sp>
      <p:sp>
        <p:nvSpPr>
          <p:cNvPr id="26" name="Text 24"/>
          <p:cNvSpPr/>
          <p:nvPr/>
        </p:nvSpPr>
        <p:spPr>
          <a:xfrm>
            <a:off x="8769096" y="3840480"/>
            <a:ext cx="2194560" cy="932688"/>
          </a:xfrm>
          <a:prstGeom prst="rect">
            <a:avLst/>
          </a:prstGeom>
          <a:noFill/>
          <a:ln/>
        </p:spPr>
        <p:txBody>
          <a:bodyPr wrap="square" lIns="762" tIns="762" rIns="762" bIns="762" rtlCol="0" anchor="t"/>
          <a:lstStyle/>
          <a:p>
            <a:pPr marL="0" indent="0">
              <a:buNone/>
            </a:pPr>
            <a:r>
              <a:rPr lang="en-US" sz="1050" i="0" dirty="0">
                <a:solidFill>
                  <a:srgbClr val="D6DCE4"/>
                </a:solidFill>
                <a:latin typeface="Arial" pitchFamily="34" charset="0"/>
                <a:ea typeface="Arial" pitchFamily="34" charset="-122"/>
                <a:cs typeface="Arial" pitchFamily="34" charset="-120"/>
              </a:rPr>
              <a:t>of a 10-day sprint goes to work that is not the feature. That is the surface DevOrchestrator automates.</a:t>
            </a:r>
          </a:p>
        </p:txBody>
      </p:sp>
      <p:sp>
        <p:nvSpPr>
          <p:cNvPr id="27" name="Text 25"/>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8" name="Shape 26"/>
          <p:cNvSpPr/>
          <p:nvPr/>
        </p:nvSpPr>
        <p:spPr>
          <a:xfrm>
            <a:off x="822960" y="5596128"/>
            <a:ext cx="91440" cy="91440"/>
          </a:xfrm>
          <a:prstGeom prst="rect">
            <a:avLst/>
          </a:prstGeom>
          <a:solidFill>
            <a:srgbClr val="7C4DE8"/>
          </a:solidFill>
          <a:ln/>
        </p:spPr>
        <p:txBody>
          <a:bodyPr/>
          <a:lstStyle/>
          <a:p>
            <a:endParaRPr lang="en-IN"/>
          </a:p>
        </p:txBody>
      </p:sp>
      <p:sp>
        <p:nvSpPr>
          <p:cNvPr id="29" name="Text 27"/>
          <p:cNvSpPr/>
          <p:nvPr/>
        </p:nvSpPr>
        <p:spPr>
          <a:xfrm>
            <a:off x="1042416"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Cycle time from task picked to deployed, and reviewer wait</a:t>
            </a:r>
          </a:p>
        </p:txBody>
      </p:sp>
      <p:sp>
        <p:nvSpPr>
          <p:cNvPr id="30" name="Shape 28"/>
          <p:cNvSpPr/>
          <p:nvPr/>
        </p:nvSpPr>
        <p:spPr>
          <a:xfrm>
            <a:off x="3527298" y="5596128"/>
            <a:ext cx="91440" cy="91440"/>
          </a:xfrm>
          <a:prstGeom prst="rect">
            <a:avLst/>
          </a:prstGeom>
          <a:solidFill>
            <a:srgbClr val="7C4DE8"/>
          </a:solidFill>
          <a:ln/>
        </p:spPr>
        <p:txBody>
          <a:bodyPr/>
          <a:lstStyle/>
          <a:p>
            <a:endParaRPr lang="en-IN"/>
          </a:p>
        </p:txBody>
      </p:sp>
      <p:sp>
        <p:nvSpPr>
          <p:cNvPr id="31" name="Text 29"/>
          <p:cNvSpPr/>
          <p:nvPr/>
        </p:nvSpPr>
        <p:spPr>
          <a:xfrm>
            <a:off x="3746754"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Any team on a self-hosted or Azure DevOps stack</a:t>
            </a:r>
          </a:p>
        </p:txBody>
      </p:sp>
      <p:sp>
        <p:nvSpPr>
          <p:cNvPr id="32" name="Shape 30"/>
          <p:cNvSpPr/>
          <p:nvPr/>
        </p:nvSpPr>
        <p:spPr>
          <a:xfrm>
            <a:off x="6231636" y="5596128"/>
            <a:ext cx="91440" cy="91440"/>
          </a:xfrm>
          <a:prstGeom prst="rect">
            <a:avLst/>
          </a:prstGeom>
          <a:solidFill>
            <a:srgbClr val="7C4DE8"/>
          </a:solidFill>
          <a:ln/>
        </p:spPr>
        <p:txBody>
          <a:bodyPr/>
          <a:lstStyle/>
          <a:p>
            <a:endParaRPr lang="en-IN"/>
          </a:p>
        </p:txBody>
      </p:sp>
      <p:sp>
        <p:nvSpPr>
          <p:cNvPr id="33" name="Text 31"/>
          <p:cNvSpPr/>
          <p:nvPr/>
        </p:nvSpPr>
        <p:spPr>
          <a:xfrm>
            <a:off x="6451092"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An agent shipping plausible but wrong code, unreviewed</a:t>
            </a:r>
          </a:p>
        </p:txBody>
      </p:sp>
      <p:sp>
        <p:nvSpPr>
          <p:cNvPr id="34" name="Shape 32"/>
          <p:cNvSpPr/>
          <p:nvPr/>
        </p:nvSpPr>
        <p:spPr>
          <a:xfrm>
            <a:off x="8935974" y="5596128"/>
            <a:ext cx="91440" cy="91440"/>
          </a:xfrm>
          <a:prstGeom prst="rect">
            <a:avLst/>
          </a:prstGeom>
          <a:solidFill>
            <a:srgbClr val="7C4DE8"/>
          </a:solidFill>
          <a:ln/>
        </p:spPr>
        <p:txBody>
          <a:bodyPr/>
          <a:lstStyle/>
          <a:p>
            <a:endParaRPr lang="en-IN"/>
          </a:p>
        </p:txBody>
      </p:sp>
      <p:sp>
        <p:nvSpPr>
          <p:cNvPr id="35" name="Text 33"/>
          <p:cNvSpPr/>
          <p:nvPr/>
        </p:nvSpPr>
        <p:spPr>
          <a:xfrm>
            <a:off x="9155430"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Gates before the PR, a human approval, and an artifact to check against</a:t>
            </a:r>
          </a:p>
        </p:txBody>
      </p:sp>
      <p:sp>
        <p:nvSpPr>
          <p:cNvPr id="36" name="Text 34"/>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7" name="Text 35"/>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06</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8" name="Shape 36"/>
          <p:cNvSpPr/>
          <p:nvPr/>
        </p:nvSpPr>
        <p:spPr>
          <a:xfrm>
            <a:off x="11722608" y="6391656"/>
            <a:ext cx="173736" cy="173736"/>
          </a:xfrm>
          <a:prstGeom prst="rect">
            <a:avLst/>
          </a:prstGeom>
          <a:solidFill>
            <a:srgbClr val="7C4DE8"/>
          </a:solidFill>
          <a:ln/>
        </p:spPr>
        <p:txBody>
          <a:bodyPr/>
          <a:lstStyle/>
          <a:p>
            <a:endParaRPr lang="en-IN"/>
          </a:p>
        </p:txBody>
      </p:sp>
      <p:sp>
        <p:nvSpPr>
          <p:cNvPr id="39" name="Shape 37"/>
          <p:cNvSpPr/>
          <p:nvPr/>
        </p:nvSpPr>
        <p:spPr>
          <a:xfrm>
            <a:off x="11769517" y="6438565"/>
            <a:ext cx="79919" cy="79919"/>
          </a:xfrm>
          <a:prstGeom prst="rect">
            <a:avLst/>
          </a:prstGeom>
          <a:solidFill>
            <a:srgbClr val="FFFFFF"/>
          </a:solidFill>
          <a:ln/>
        </p:spPr>
        <p:txBody>
          <a:bodyPr/>
          <a:lstStyle/>
          <a:p>
            <a:endParaRPr lang="en-IN"/>
          </a:p>
        </p:txBody>
      </p:sp>
      <p:sp>
        <p:nvSpPr>
          <p:cNvPr id="40" name="Shape 38"/>
          <p:cNvSpPr/>
          <p:nvPr/>
        </p:nvSpPr>
        <p:spPr>
          <a:xfrm>
            <a:off x="11752143" y="6356909"/>
            <a:ext cx="29535" cy="34747"/>
          </a:xfrm>
          <a:prstGeom prst="rect">
            <a:avLst/>
          </a:prstGeom>
          <a:solidFill>
            <a:srgbClr val="7C4DE8"/>
          </a:solidFill>
          <a:ln/>
        </p:spPr>
        <p:txBody>
          <a:bodyPr/>
          <a:lstStyle/>
          <a:p>
            <a:endParaRPr lang="en-IN"/>
          </a:p>
        </p:txBody>
      </p:sp>
      <p:sp>
        <p:nvSpPr>
          <p:cNvPr id="41" name="Shape 39"/>
          <p:cNvSpPr/>
          <p:nvPr/>
        </p:nvSpPr>
        <p:spPr>
          <a:xfrm>
            <a:off x="11752143" y="6565392"/>
            <a:ext cx="29535" cy="34747"/>
          </a:xfrm>
          <a:prstGeom prst="rect">
            <a:avLst/>
          </a:prstGeom>
          <a:solidFill>
            <a:srgbClr val="7C4DE8"/>
          </a:solidFill>
          <a:ln/>
        </p:spPr>
        <p:txBody>
          <a:bodyPr/>
          <a:lstStyle/>
          <a:p>
            <a:endParaRPr lang="en-IN"/>
          </a:p>
        </p:txBody>
      </p:sp>
      <p:sp>
        <p:nvSpPr>
          <p:cNvPr id="42" name="Shape 40"/>
          <p:cNvSpPr/>
          <p:nvPr/>
        </p:nvSpPr>
        <p:spPr>
          <a:xfrm>
            <a:off x="11687861" y="6421191"/>
            <a:ext cx="34747" cy="29535"/>
          </a:xfrm>
          <a:prstGeom prst="rect">
            <a:avLst/>
          </a:prstGeom>
          <a:solidFill>
            <a:srgbClr val="7C4DE8"/>
          </a:solidFill>
          <a:ln/>
        </p:spPr>
        <p:txBody>
          <a:bodyPr/>
          <a:lstStyle/>
          <a:p>
            <a:endParaRPr lang="en-IN"/>
          </a:p>
        </p:txBody>
      </p:sp>
      <p:sp>
        <p:nvSpPr>
          <p:cNvPr id="43" name="Shape 41"/>
          <p:cNvSpPr/>
          <p:nvPr/>
        </p:nvSpPr>
        <p:spPr>
          <a:xfrm>
            <a:off x="11896344" y="6421191"/>
            <a:ext cx="34747" cy="29535"/>
          </a:xfrm>
          <a:prstGeom prst="rect">
            <a:avLst/>
          </a:prstGeom>
          <a:solidFill>
            <a:srgbClr val="7C4DE8"/>
          </a:solidFill>
          <a:ln/>
        </p:spPr>
        <p:txBody>
          <a:bodyPr/>
          <a:lstStyle/>
          <a:p>
            <a:endParaRPr lang="en-IN"/>
          </a:p>
        </p:txBody>
      </p:sp>
      <p:sp>
        <p:nvSpPr>
          <p:cNvPr id="44" name="Shape 42"/>
          <p:cNvSpPr/>
          <p:nvPr/>
        </p:nvSpPr>
        <p:spPr>
          <a:xfrm>
            <a:off x="11837274" y="6356909"/>
            <a:ext cx="29535" cy="34747"/>
          </a:xfrm>
          <a:prstGeom prst="rect">
            <a:avLst/>
          </a:prstGeom>
          <a:solidFill>
            <a:srgbClr val="7C4DE8"/>
          </a:solidFill>
          <a:ln/>
        </p:spPr>
        <p:txBody>
          <a:bodyPr/>
          <a:lstStyle/>
          <a:p>
            <a:endParaRPr lang="en-IN"/>
          </a:p>
        </p:txBody>
      </p:sp>
      <p:sp>
        <p:nvSpPr>
          <p:cNvPr id="45" name="Shape 43"/>
          <p:cNvSpPr/>
          <p:nvPr/>
        </p:nvSpPr>
        <p:spPr>
          <a:xfrm>
            <a:off x="11837274" y="6565392"/>
            <a:ext cx="29535" cy="34747"/>
          </a:xfrm>
          <a:prstGeom prst="rect">
            <a:avLst/>
          </a:prstGeom>
          <a:solidFill>
            <a:srgbClr val="7C4DE8"/>
          </a:solidFill>
          <a:ln/>
        </p:spPr>
        <p:txBody>
          <a:bodyPr/>
          <a:lstStyle/>
          <a:p>
            <a:endParaRPr lang="en-IN"/>
          </a:p>
        </p:txBody>
      </p:sp>
      <p:sp>
        <p:nvSpPr>
          <p:cNvPr id="46" name="Shape 44"/>
          <p:cNvSpPr/>
          <p:nvPr/>
        </p:nvSpPr>
        <p:spPr>
          <a:xfrm>
            <a:off x="11687861" y="6506322"/>
            <a:ext cx="34747" cy="29535"/>
          </a:xfrm>
          <a:prstGeom prst="rect">
            <a:avLst/>
          </a:prstGeom>
          <a:solidFill>
            <a:srgbClr val="7C4DE8"/>
          </a:solidFill>
          <a:ln/>
        </p:spPr>
        <p:txBody>
          <a:bodyPr/>
          <a:lstStyle/>
          <a:p>
            <a:endParaRPr lang="en-IN"/>
          </a:p>
        </p:txBody>
      </p:sp>
      <p:sp>
        <p:nvSpPr>
          <p:cNvPr id="47" name="Shape 45"/>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20624"/>
            <a:ext cx="274320" cy="274320"/>
          </a:xfrm>
          <a:prstGeom prst="rect">
            <a:avLst/>
          </a:prstGeom>
          <a:solidFill>
            <a:srgbClr val="7C4DE8"/>
          </a:solidFill>
          <a:ln/>
        </p:spPr>
        <p:txBody>
          <a:bodyPr/>
          <a:lstStyle/>
          <a:p>
            <a:endParaRPr lang="en-IN"/>
          </a:p>
        </p:txBody>
      </p:sp>
      <p:sp>
        <p:nvSpPr>
          <p:cNvPr id="3" name="Shape 1"/>
          <p:cNvSpPr/>
          <p:nvPr/>
        </p:nvSpPr>
        <p:spPr>
          <a:xfrm>
            <a:off x="640994" y="494690"/>
            <a:ext cx="126187" cy="126187"/>
          </a:xfrm>
          <a:prstGeom prst="rect">
            <a:avLst/>
          </a:prstGeom>
          <a:solidFill>
            <a:srgbClr val="FFFFFF"/>
          </a:solidFill>
          <a:ln/>
        </p:spPr>
        <p:txBody>
          <a:bodyPr/>
          <a:lstStyle/>
          <a:p>
            <a:endParaRPr lang="en-IN"/>
          </a:p>
        </p:txBody>
      </p:sp>
      <p:sp>
        <p:nvSpPr>
          <p:cNvPr id="4" name="Shape 2"/>
          <p:cNvSpPr/>
          <p:nvPr/>
        </p:nvSpPr>
        <p:spPr>
          <a:xfrm>
            <a:off x="613562" y="365760"/>
            <a:ext cx="46634" cy="54864"/>
          </a:xfrm>
          <a:prstGeom prst="rect">
            <a:avLst/>
          </a:prstGeom>
          <a:solidFill>
            <a:srgbClr val="7C4DE8"/>
          </a:solidFill>
          <a:ln/>
        </p:spPr>
        <p:txBody>
          <a:bodyPr/>
          <a:lstStyle/>
          <a:p>
            <a:endParaRPr lang="en-IN"/>
          </a:p>
        </p:txBody>
      </p:sp>
      <p:sp>
        <p:nvSpPr>
          <p:cNvPr id="5" name="Shape 3"/>
          <p:cNvSpPr/>
          <p:nvPr/>
        </p:nvSpPr>
        <p:spPr>
          <a:xfrm>
            <a:off x="613562" y="694944"/>
            <a:ext cx="46634" cy="54864"/>
          </a:xfrm>
          <a:prstGeom prst="rect">
            <a:avLst/>
          </a:prstGeom>
          <a:solidFill>
            <a:srgbClr val="7C4DE8"/>
          </a:solidFill>
          <a:ln/>
        </p:spPr>
        <p:txBody>
          <a:bodyPr/>
          <a:lstStyle/>
          <a:p>
            <a:endParaRPr lang="en-IN"/>
          </a:p>
        </p:txBody>
      </p:sp>
      <p:sp>
        <p:nvSpPr>
          <p:cNvPr id="6" name="Shape 4"/>
          <p:cNvSpPr/>
          <p:nvPr/>
        </p:nvSpPr>
        <p:spPr>
          <a:xfrm>
            <a:off x="512064" y="467258"/>
            <a:ext cx="54864" cy="46634"/>
          </a:xfrm>
          <a:prstGeom prst="rect">
            <a:avLst/>
          </a:prstGeom>
          <a:solidFill>
            <a:srgbClr val="7C4DE8"/>
          </a:solidFill>
          <a:ln/>
        </p:spPr>
        <p:txBody>
          <a:bodyPr/>
          <a:lstStyle/>
          <a:p>
            <a:endParaRPr lang="en-IN"/>
          </a:p>
        </p:txBody>
      </p:sp>
      <p:sp>
        <p:nvSpPr>
          <p:cNvPr id="7" name="Shape 5"/>
          <p:cNvSpPr/>
          <p:nvPr/>
        </p:nvSpPr>
        <p:spPr>
          <a:xfrm>
            <a:off x="841248" y="467258"/>
            <a:ext cx="54864" cy="46634"/>
          </a:xfrm>
          <a:prstGeom prst="rect">
            <a:avLst/>
          </a:prstGeom>
          <a:solidFill>
            <a:srgbClr val="7C4DE8"/>
          </a:solidFill>
          <a:ln/>
        </p:spPr>
        <p:txBody>
          <a:bodyPr/>
          <a:lstStyle/>
          <a:p>
            <a:endParaRPr lang="en-IN"/>
          </a:p>
        </p:txBody>
      </p:sp>
      <p:sp>
        <p:nvSpPr>
          <p:cNvPr id="8" name="Shape 6"/>
          <p:cNvSpPr/>
          <p:nvPr/>
        </p:nvSpPr>
        <p:spPr>
          <a:xfrm>
            <a:off x="747979" y="365760"/>
            <a:ext cx="46634" cy="54864"/>
          </a:xfrm>
          <a:prstGeom prst="rect">
            <a:avLst/>
          </a:prstGeom>
          <a:solidFill>
            <a:srgbClr val="7C4DE8"/>
          </a:solidFill>
          <a:ln/>
        </p:spPr>
        <p:txBody>
          <a:bodyPr/>
          <a:lstStyle/>
          <a:p>
            <a:endParaRPr lang="en-IN"/>
          </a:p>
        </p:txBody>
      </p:sp>
      <p:sp>
        <p:nvSpPr>
          <p:cNvPr id="9" name="Shape 7"/>
          <p:cNvSpPr/>
          <p:nvPr/>
        </p:nvSpPr>
        <p:spPr>
          <a:xfrm>
            <a:off x="747979" y="694944"/>
            <a:ext cx="46634" cy="54864"/>
          </a:xfrm>
          <a:prstGeom prst="rect">
            <a:avLst/>
          </a:prstGeom>
          <a:solidFill>
            <a:srgbClr val="7C4DE8"/>
          </a:solidFill>
          <a:ln/>
        </p:spPr>
        <p:txBody>
          <a:bodyPr/>
          <a:lstStyle/>
          <a:p>
            <a:endParaRPr lang="en-IN"/>
          </a:p>
        </p:txBody>
      </p:sp>
      <p:sp>
        <p:nvSpPr>
          <p:cNvPr id="10" name="Shape 8"/>
          <p:cNvSpPr/>
          <p:nvPr/>
        </p:nvSpPr>
        <p:spPr>
          <a:xfrm>
            <a:off x="512064" y="601675"/>
            <a:ext cx="54864" cy="46634"/>
          </a:xfrm>
          <a:prstGeom prst="rect">
            <a:avLst/>
          </a:prstGeom>
          <a:solidFill>
            <a:srgbClr val="7C4DE8"/>
          </a:solidFill>
          <a:ln/>
        </p:spPr>
        <p:txBody>
          <a:bodyPr/>
          <a:lstStyle/>
          <a:p>
            <a:endParaRPr lang="en-IN"/>
          </a:p>
        </p:txBody>
      </p:sp>
      <p:sp>
        <p:nvSpPr>
          <p:cNvPr id="11" name="Shape 9"/>
          <p:cNvSpPr/>
          <p:nvPr/>
        </p:nvSpPr>
        <p:spPr>
          <a:xfrm>
            <a:off x="841248" y="601675"/>
            <a:ext cx="54864" cy="46634"/>
          </a:xfrm>
          <a:prstGeom prst="rect">
            <a:avLst/>
          </a:prstGeom>
          <a:solidFill>
            <a:srgbClr val="7C4DE8"/>
          </a:solidFill>
          <a:ln/>
        </p:spPr>
        <p:txBody>
          <a:bodyPr/>
          <a:lstStyle/>
          <a:p>
            <a:endParaRPr lang="en-IN"/>
          </a:p>
        </p:txBody>
      </p:sp>
      <p:sp>
        <p:nvSpPr>
          <p:cNvPr id="12" name="Text 10"/>
          <p:cNvSpPr/>
          <p:nvPr/>
        </p:nvSpPr>
        <p:spPr>
          <a:xfrm>
            <a:off x="1115568" y="329184"/>
            <a:ext cx="3108960" cy="475488"/>
          </a:xfrm>
          <a:prstGeom prst="rect">
            <a:avLst/>
          </a:prstGeom>
          <a:noFill/>
          <a:ln/>
        </p:spPr>
        <p:txBody>
          <a:bodyPr wrap="square" lIns="0" tIns="0" rIns="0" bIns="0" rtlCol="0" anchor="ctr"/>
          <a:lstStyle/>
          <a:p>
            <a:pPr marL="0" indent="0">
              <a:buNone/>
            </a:pPr>
            <a:r>
              <a:rPr lang="en-US" sz="850" b="1" kern="0" spc="60" dirty="0">
                <a:solidFill>
                  <a:srgbClr val="0E141B"/>
                </a:solidFill>
                <a:latin typeface="Arial" pitchFamily="34" charset="0"/>
                <a:ea typeface="Arial" pitchFamily="34" charset="-122"/>
                <a:cs typeface="Arial" pitchFamily="34" charset="-120"/>
              </a:rPr>
              <a:t>AWS STUDENT BUILDER GROUPS</a:t>
            </a:r>
            <a:endParaRPr lang="en-US" sz="850" dirty="0"/>
          </a:p>
          <a:p>
            <a:pPr marL="0" indent="0">
              <a:buNone/>
            </a:pPr>
            <a:r>
              <a:rPr lang="en-US" sz="700" kern="0" spc="160" dirty="0">
                <a:solidFill>
                  <a:srgbClr val="7C4DE8"/>
                </a:solidFill>
                <a:latin typeface="Consolas" pitchFamily="34" charset="0"/>
                <a:ea typeface="Consolas" pitchFamily="34" charset="-122"/>
                <a:cs typeface="Consolas" pitchFamily="34" charset="-120"/>
              </a:rPr>
              <a:t>VIT CHENNAI</a:t>
            </a:r>
            <a:endParaRPr lang="en-US" sz="850" dirty="0"/>
          </a:p>
        </p:txBody>
      </p:sp>
      <p:sp>
        <p:nvSpPr>
          <p:cNvPr id="13" name="Text 11"/>
          <p:cNvSpPr/>
          <p:nvPr/>
        </p:nvSpPr>
        <p:spPr>
          <a:xfrm>
            <a:off x="7772400" y="384048"/>
            <a:ext cx="3840480" cy="274320"/>
          </a:xfrm>
          <a:prstGeom prst="rect">
            <a:avLst/>
          </a:prstGeom>
          <a:noFill/>
          <a:ln/>
        </p:spPr>
        <p:txBody>
          <a:bodyPr wrap="square" lIns="0" tIns="0" rIns="0" bIns="0" rtlCol="0" anchor="ctr"/>
          <a:lstStyle/>
          <a:p>
            <a:pPr marL="0" indent="0" algn="r">
              <a:buNone/>
            </a:pPr>
            <a:r>
              <a:rPr lang="en-US" sz="850" kern="0" spc="120" dirty="0">
                <a:solidFill>
                  <a:srgbClr val="9AA3AE"/>
                </a:solidFill>
                <a:latin typeface="Consolas" pitchFamily="34" charset="0"/>
                <a:ea typeface="Consolas" pitchFamily="34" charset="-122"/>
                <a:cs typeface="Consolas" pitchFamily="34" charset="-120"/>
              </a:rPr>
              <a:t>FRONTIER · SUBMISSION</a:t>
            </a:r>
            <a:endParaRPr lang="en-US" sz="850" dirty="0"/>
          </a:p>
        </p:txBody>
      </p:sp>
      <p:sp>
        <p:nvSpPr>
          <p:cNvPr id="14" name="Shape 12"/>
          <p:cNvSpPr/>
          <p:nvPr/>
        </p:nvSpPr>
        <p:spPr>
          <a:xfrm>
            <a:off x="566928" y="1024128"/>
            <a:ext cx="603504" cy="603504"/>
          </a:xfrm>
          <a:prstGeom prst="rect">
            <a:avLst/>
          </a:prstGeom>
          <a:solidFill>
            <a:srgbClr val="000000"/>
          </a:solidFill>
          <a:ln/>
        </p:spPr>
        <p:txBody>
          <a:bodyPr/>
          <a:lstStyle/>
          <a:p>
            <a:endParaRPr lang="en-IN"/>
          </a:p>
        </p:txBody>
      </p:sp>
      <p:sp>
        <p:nvSpPr>
          <p:cNvPr id="15" name="Text 13"/>
          <p:cNvSpPr/>
          <p:nvPr/>
        </p:nvSpPr>
        <p:spPr>
          <a:xfrm>
            <a:off x="566928" y="1024128"/>
            <a:ext cx="6035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onsolas" pitchFamily="34" charset="0"/>
                <a:ea typeface="Consolas" pitchFamily="34" charset="-122"/>
                <a:cs typeface="Consolas" pitchFamily="34" charset="-120"/>
              </a:rPr>
              <a:t>07</a:t>
            </a:r>
            <a:endParaRPr lang="en-US" sz="1700" dirty="0"/>
          </a:p>
        </p:txBody>
      </p:sp>
      <p:sp>
        <p:nvSpPr>
          <p:cNvPr id="16" name="Text 14"/>
          <p:cNvSpPr/>
          <p:nvPr/>
        </p:nvSpPr>
        <p:spPr>
          <a:xfrm>
            <a:off x="1353312" y="1005840"/>
            <a:ext cx="9692640" cy="475488"/>
          </a:xfrm>
          <a:prstGeom prst="rect">
            <a:avLst/>
          </a:prstGeom>
          <a:noFill/>
          <a:ln/>
        </p:spPr>
        <p:txBody>
          <a:bodyPr wrap="square" lIns="0" tIns="0" rIns="0" bIns="0" rtlCol="0" anchor="ctr"/>
          <a:lstStyle/>
          <a:p>
            <a:pPr marL="0" indent="0">
              <a:buNone/>
            </a:pPr>
            <a:r>
              <a:rPr lang="en-US" sz="3100" kern="0" spc="40" dirty="0">
                <a:solidFill>
                  <a:srgbClr val="0E141B"/>
                </a:solidFill>
                <a:latin typeface="Arial Black" pitchFamily="34" charset="0"/>
                <a:ea typeface="Arial Black" pitchFamily="34" charset="-122"/>
                <a:cs typeface="Arial Black" pitchFamily="34" charset="-120"/>
              </a:rPr>
              <a:t>WHAT WE BUILT ON</a:t>
            </a:r>
            <a:endParaRPr lang="en-US" sz="3100" dirty="0"/>
          </a:p>
        </p:txBody>
      </p:sp>
      <p:sp>
        <p:nvSpPr>
          <p:cNvPr id="17" name="Text 15"/>
          <p:cNvSpPr/>
          <p:nvPr/>
        </p:nvSpPr>
        <p:spPr>
          <a:xfrm>
            <a:off x="1371600" y="1481328"/>
            <a:ext cx="9692640" cy="237744"/>
          </a:xfrm>
          <a:prstGeom prst="rect">
            <a:avLst/>
          </a:prstGeom>
          <a:noFill/>
          <a:ln/>
        </p:spPr>
        <p:txBody>
          <a:bodyPr wrap="square" lIns="0" tIns="0" rIns="0" bIns="0" rtlCol="0" anchor="ctr"/>
          <a:lstStyle/>
          <a:p>
            <a:pPr marL="0" indent="0">
              <a:buNone/>
            </a:pPr>
            <a:r>
              <a:rPr lang="en-US" sz="1100" kern="0" spc="80" dirty="0">
                <a:solidFill>
                  <a:srgbClr val="7C4DE8"/>
                </a:solidFill>
                <a:latin typeface="Consolas" pitchFamily="34" charset="0"/>
                <a:ea typeface="Consolas" pitchFamily="34" charset="-122"/>
                <a:cs typeface="Consolas" pitchFamily="34" charset="-120"/>
              </a:rPr>
              <a:t>research and references</a:t>
            </a:r>
            <a:endParaRPr lang="en-US" sz="1100" dirty="0"/>
          </a:p>
        </p:txBody>
      </p:sp>
      <p:sp>
        <p:nvSpPr>
          <p:cNvPr id="18" name="Text 16"/>
          <p:cNvSpPr/>
          <p:nvPr/>
        </p:nvSpPr>
        <p:spPr>
          <a:xfrm>
            <a:off x="822960" y="2103120"/>
            <a:ext cx="10543032" cy="566928"/>
          </a:xfrm>
          <a:prstGeom prst="rect">
            <a:avLst/>
          </a:prstGeom>
          <a:noFill/>
          <a:ln/>
        </p:spPr>
        <p:txBody>
          <a:bodyPr wrap="square" lIns="0" tIns="0" rIns="0" bIns="0" rtlCol="0" anchor="ctr"/>
          <a:lstStyle/>
          <a:p>
            <a:pPr marL="0" indent="0">
              <a:buNone/>
            </a:pPr>
            <a:r>
              <a:rPr lang="en-US" sz="2100" b="1" dirty="0">
                <a:solidFill>
                  <a:srgbClr val="0E141B"/>
                </a:solidFill>
                <a:latin typeface="Arial" pitchFamily="34" charset="0"/>
                <a:ea typeface="Arial" pitchFamily="34" charset="-122"/>
                <a:cs typeface="Arial" pitchFamily="34" charset="-120"/>
              </a:rPr>
              <a:t>What did you build on?</a:t>
            </a:r>
            <a:endParaRPr lang="en-US" sz="2100" dirty="0"/>
          </a:p>
        </p:txBody>
      </p:sp>
      <p:sp>
        <p:nvSpPr>
          <p:cNvPr id="19" name="Shape 17"/>
          <p:cNvSpPr/>
          <p:nvPr/>
        </p:nvSpPr>
        <p:spPr>
          <a:xfrm>
            <a:off x="822960" y="2770632"/>
            <a:ext cx="10543032" cy="2240280"/>
          </a:xfrm>
          <a:prstGeom prst="roundRect">
            <a:avLst>
              <a:gd name="adj" fmla="val 1633"/>
            </a:avLst>
          </a:prstGeom>
          <a:solidFill>
            <a:srgbClr val="F4F6F8"/>
          </a:solidFill>
          <a:ln w="9525">
            <a:solidFill>
              <a:srgbClr val="DDE2E8"/>
            </a:solidFill>
            <a:prstDash val="solid"/>
          </a:ln>
        </p:spPr>
        <p:txBody>
          <a:bodyPr/>
          <a:lstStyle/>
          <a:p>
            <a:endParaRPr lang="en-IN"/>
          </a:p>
        </p:txBody>
      </p:sp>
      <p:sp>
        <p:nvSpPr>
          <p:cNvPr id="20" name="Text 18"/>
          <p:cNvSpPr/>
          <p:nvPr/>
        </p:nvSpPr>
        <p:spPr>
          <a:xfrm>
            <a:off x="969264" y="2770632"/>
            <a:ext cx="10250424" cy="2240280"/>
          </a:xfrm>
          <a:prstGeom prst="rect">
            <a:avLst/>
          </a:prstGeom>
          <a:noFill/>
          <a:ln/>
        </p:spPr>
        <p:txBody>
          <a:bodyPr wrap="square" lIns="762" tIns="762" rIns="762" bIns="762" rtlCol="0" anchor="t"/>
          <a:lstStyle/>
          <a:p>
            <a:pPr marL="0" indent="0">
              <a:spcAft>
                <a:spcPts val="0"/>
              </a:spcAft>
              <a:buNone/>
            </a:pPr>
            <a:r>
              <a:rPr lang="en-US" sz="1000" i="0" dirty="0">
                <a:solidFill>
                  <a:srgbClr val="2A3441"/>
                </a:solidFill>
                <a:latin typeface="Arial" pitchFamily="34" charset="0"/>
                <a:ea typeface="Arial" pitchFamily="34" charset="-122"/>
                <a:cs typeface="Arial" pitchFamily="34" charset="-120"/>
              </a:rPr>
              <a:t>[1]  Anthropic — Claude Code documentation, docs.claude.com/claude-code — headless claude -p invocation; the agent layer runs on it.</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[2]  absmartly/Tmux-Orchestrator (GitHub) — tiered tmux agent hierarchy; we borrowed the session-spawn and heartbeat pattern.</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[3]  raine/tmux-agent-usage (GitHub) — reading rate-limit signals out of agent output; the basis for our rotation trigger.</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[4]  awslabs/cli-agent-orchestrator (GitHub) — supervisor/worker CLI-agent coordination; reference for the two-session split.</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[5]  Qodo PR-Agent (GitHub) — AI pull-request descriptions; confirmed the git log + spec → description pattern we reuse.</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[6]  Plane · Gitea · Woodpecker CI · Coolify · Mattermost — the self-hostable stack the OSS track drives via their REST APIs.</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[7]  Toolchain: gitleaks, Ruff, libtmux, Rich, Pydantic v2 (MIT) and httpx (BSD). No datasets or model weights are used.</a:t>
            </a:r>
          </a:p>
          <a:p>
            <a:pPr marL="0" indent="0">
              <a:spcAft>
                <a:spcPts val="0"/>
              </a:spcAft>
              <a:buNone/>
            </a:pPr>
            <a:r>
              <a:rPr lang="en-US" sz="1000" i="0" dirty="0">
                <a:solidFill>
                  <a:srgbClr val="2A3441"/>
                </a:solidFill>
                <a:latin typeface="Arial" pitchFamily="34" charset="0"/>
                <a:ea typeface="Arial" pitchFamily="34" charset="-122"/>
                <a:cs typeface="Arial" pitchFamily="34" charset="-120"/>
              </a:rPr>
              <a:t>[8]  Ours: the artifact schema, the SQLite context mesh and conflict detector, and the orchestrator loop and CLI itself.</a:t>
            </a:r>
          </a:p>
        </p:txBody>
      </p:sp>
      <p:sp>
        <p:nvSpPr>
          <p:cNvPr id="21" name="Text 19"/>
          <p:cNvSpPr/>
          <p:nvPr/>
        </p:nvSpPr>
        <p:spPr>
          <a:xfrm>
            <a:off x="822960" y="5230368"/>
            <a:ext cx="10543032" cy="219456"/>
          </a:xfrm>
          <a:prstGeom prst="rect">
            <a:avLst/>
          </a:prstGeom>
          <a:noFill/>
          <a:ln/>
        </p:spPr>
        <p:txBody>
          <a:bodyPr wrap="square" lIns="0" tIns="0" rIns="0" bIns="0" rtlCol="0" anchor="ctr"/>
          <a:lstStyle/>
          <a:p>
            <a:pPr marL="0" indent="0">
              <a:buNone/>
            </a:pPr>
            <a:r>
              <a:rPr lang="en-US" sz="900" b="1" kern="0" spc="110" dirty="0">
                <a:solidFill>
                  <a:srgbClr val="7C4DE8"/>
                </a:solidFill>
                <a:latin typeface="Consolas" pitchFamily="34" charset="0"/>
                <a:ea typeface="Consolas" pitchFamily="34" charset="-122"/>
                <a:cs typeface="Consolas" pitchFamily="34" charset="-120"/>
              </a:rPr>
              <a:t>MAKE SURE YOUR ANSWER COVERS</a:t>
            </a:r>
            <a:endParaRPr lang="en-US" sz="900" dirty="0"/>
          </a:p>
        </p:txBody>
      </p:sp>
      <p:sp>
        <p:nvSpPr>
          <p:cNvPr id="22" name="Shape 20"/>
          <p:cNvSpPr/>
          <p:nvPr/>
        </p:nvSpPr>
        <p:spPr>
          <a:xfrm>
            <a:off x="822960" y="5596128"/>
            <a:ext cx="91440" cy="91440"/>
          </a:xfrm>
          <a:prstGeom prst="rect">
            <a:avLst/>
          </a:prstGeom>
          <a:solidFill>
            <a:srgbClr val="7C4DE8"/>
          </a:solidFill>
          <a:ln/>
        </p:spPr>
        <p:txBody>
          <a:bodyPr/>
          <a:lstStyle/>
          <a:p>
            <a:endParaRPr lang="en-IN"/>
          </a:p>
        </p:txBody>
      </p:sp>
      <p:sp>
        <p:nvSpPr>
          <p:cNvPr id="23" name="Text 21"/>
          <p:cNvSpPr/>
          <p:nvPr/>
        </p:nvSpPr>
        <p:spPr>
          <a:xfrm>
            <a:off x="1042416"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Sources are tools and repos; each named with its owner</a:t>
            </a:r>
          </a:p>
        </p:txBody>
      </p:sp>
      <p:sp>
        <p:nvSpPr>
          <p:cNvPr id="24" name="Shape 22"/>
          <p:cNvSpPr/>
          <p:nvPr/>
        </p:nvSpPr>
        <p:spPr>
          <a:xfrm>
            <a:off x="3527298" y="5596128"/>
            <a:ext cx="91440" cy="91440"/>
          </a:xfrm>
          <a:prstGeom prst="rect">
            <a:avLst/>
          </a:prstGeom>
          <a:solidFill>
            <a:srgbClr val="7C4DE8"/>
          </a:solidFill>
          <a:ln/>
        </p:spPr>
        <p:txBody>
          <a:bodyPr/>
          <a:lstStyle/>
          <a:p>
            <a:endParaRPr lang="en-IN"/>
          </a:p>
        </p:txBody>
      </p:sp>
      <p:sp>
        <p:nvSpPr>
          <p:cNvPr id="25" name="Text 23"/>
          <p:cNvSpPr/>
          <p:nvPr/>
        </p:nvSpPr>
        <p:spPr>
          <a:xfrm>
            <a:off x="3746754"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Each line states what we took from that source</a:t>
            </a:r>
          </a:p>
        </p:txBody>
      </p:sp>
      <p:sp>
        <p:nvSpPr>
          <p:cNvPr id="26" name="Shape 24"/>
          <p:cNvSpPr/>
          <p:nvPr/>
        </p:nvSpPr>
        <p:spPr>
          <a:xfrm>
            <a:off x="6231636" y="5596128"/>
            <a:ext cx="91440" cy="91440"/>
          </a:xfrm>
          <a:prstGeom prst="rect">
            <a:avLst/>
          </a:prstGeom>
          <a:solidFill>
            <a:srgbClr val="7C4DE8"/>
          </a:solidFill>
          <a:ln/>
        </p:spPr>
        <p:txBody>
          <a:bodyPr/>
          <a:lstStyle/>
          <a:p>
            <a:endParaRPr lang="en-IN"/>
          </a:p>
        </p:txBody>
      </p:sp>
      <p:sp>
        <p:nvSpPr>
          <p:cNvPr id="27" name="Text 25"/>
          <p:cNvSpPr/>
          <p:nvPr/>
        </p:nvSpPr>
        <p:spPr>
          <a:xfrm>
            <a:off x="6451092"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Ours: the loop, the artifact schema, the mesh</a:t>
            </a:r>
          </a:p>
        </p:txBody>
      </p:sp>
      <p:sp>
        <p:nvSpPr>
          <p:cNvPr id="28" name="Shape 26"/>
          <p:cNvSpPr/>
          <p:nvPr/>
        </p:nvSpPr>
        <p:spPr>
          <a:xfrm>
            <a:off x="8935974" y="5596128"/>
            <a:ext cx="91440" cy="91440"/>
          </a:xfrm>
          <a:prstGeom prst="rect">
            <a:avLst/>
          </a:prstGeom>
          <a:solidFill>
            <a:srgbClr val="7C4DE8"/>
          </a:solidFill>
          <a:ln/>
        </p:spPr>
        <p:txBody>
          <a:bodyPr/>
          <a:lstStyle/>
          <a:p>
            <a:endParaRPr lang="en-IN"/>
          </a:p>
        </p:txBody>
      </p:sp>
      <p:sp>
        <p:nvSpPr>
          <p:cNvPr id="29" name="Text 27"/>
          <p:cNvSpPr/>
          <p:nvPr/>
        </p:nvSpPr>
        <p:spPr>
          <a:xfrm>
            <a:off x="9155430" y="5522976"/>
            <a:ext cx="2210562" cy="566928"/>
          </a:xfrm>
          <a:prstGeom prst="rect">
            <a:avLst/>
          </a:prstGeom>
          <a:noFill/>
          <a:ln/>
        </p:spPr>
        <p:txBody>
          <a:bodyPr wrap="square" lIns="0" tIns="0" rIns="0" bIns="0" rtlCol="0" anchor="t"/>
          <a:lstStyle/>
          <a:p>
            <a:pPr marL="0" indent="0">
              <a:buNone/>
            </a:pPr>
            <a:r>
              <a:rPr lang="en-US" sz="1050" i="0" dirty="0">
                <a:solidFill>
                  <a:srgbClr val="2A3441"/>
                </a:solidFill>
                <a:latin typeface="Arial" pitchFamily="34" charset="0"/>
                <a:ea typeface="Arial" pitchFamily="34" charset="-122"/>
                <a:cs typeface="Arial" pitchFamily="34" charset="-120"/>
              </a:rPr>
              <a:t>MIT/BSD tooling; no datasets or model weights</a:t>
            </a:r>
          </a:p>
        </p:txBody>
      </p:sp>
      <p:sp>
        <p:nvSpPr>
          <p:cNvPr id="30" name="Text 28"/>
          <p:cNvSpPr/>
          <p:nvPr/>
        </p:nvSpPr>
        <p:spPr>
          <a:xfrm>
            <a:off x="566928" y="6345936"/>
            <a:ext cx="6858000" cy="256032"/>
          </a:xfrm>
          <a:prstGeom prst="rect">
            <a:avLst/>
          </a:prstGeom>
          <a:noFill/>
          <a:ln/>
        </p:spPr>
        <p:txBody>
          <a:bodyPr wrap="square" lIns="0" tIns="0" rIns="0" bIns="0" rtlCol="0" anchor="ctr"/>
          <a:lstStyle/>
          <a:p>
            <a:pPr marL="0" indent="0">
              <a:buNone/>
            </a:pPr>
            <a:r>
              <a:rPr lang="en-US" sz="800" kern="0" spc="80" dirty="0">
                <a:solidFill>
                  <a:srgbClr val="9AA3AE"/>
                </a:solidFill>
                <a:latin typeface="Consolas" pitchFamily="34" charset="0"/>
                <a:ea typeface="Consolas" pitchFamily="34" charset="-122"/>
                <a:cs typeface="Consolas" pitchFamily="34" charset="-120"/>
              </a:rPr>
              <a:t>FRONTIER 2026  ·  BUILD THE NEXT AI  ·  VIT CHENNAI</a:t>
            </a:r>
            <a:endParaRPr lang="en-US" sz="800" dirty="0"/>
          </a:p>
        </p:txBody>
      </p:sp>
      <p:sp>
        <p:nvSpPr>
          <p:cNvPr id="31" name="Text 29"/>
          <p:cNvSpPr/>
          <p:nvPr/>
        </p:nvSpPr>
        <p:spPr>
          <a:xfrm>
            <a:off x="9509760" y="6345936"/>
            <a:ext cx="1874520" cy="256032"/>
          </a:xfrm>
          <a:prstGeom prst="rect">
            <a:avLst/>
          </a:prstGeom>
          <a:noFill/>
          <a:ln/>
        </p:spPr>
        <p:txBody>
          <a:bodyPr wrap="square" lIns="0" tIns="0" rIns="0" bIns="0" rtlCol="0" anchor="ctr"/>
          <a:lstStyle/>
          <a:p>
            <a:pPr marL="0" indent="0" algn="r">
              <a:buNone/>
            </a:pPr>
            <a:r>
              <a:rPr lang="en-US" sz="900" b="1" dirty="0">
                <a:solidFill>
                  <a:srgbClr val="FF9900"/>
                </a:solidFill>
                <a:latin typeface="Consolas" pitchFamily="34" charset="0"/>
                <a:ea typeface="Consolas" pitchFamily="34" charset="-122"/>
                <a:cs typeface="Consolas" pitchFamily="34" charset="-120"/>
              </a:rPr>
              <a:t>07</a:t>
            </a:r>
            <a:r>
              <a:rPr lang="en-US" sz="900" dirty="0">
                <a:solidFill>
                  <a:srgbClr val="9AA3AE"/>
                </a:solidFill>
                <a:latin typeface="Consolas" pitchFamily="34" charset="0"/>
                <a:ea typeface="Consolas" pitchFamily="34" charset="-122"/>
                <a:cs typeface="Consolas" pitchFamily="34" charset="-120"/>
              </a:rPr>
              <a:t> / 07</a:t>
            </a:r>
            <a:endParaRPr lang="en-US" sz="900" dirty="0"/>
          </a:p>
        </p:txBody>
      </p:sp>
      <p:sp>
        <p:nvSpPr>
          <p:cNvPr id="32" name="Shape 30"/>
          <p:cNvSpPr/>
          <p:nvPr/>
        </p:nvSpPr>
        <p:spPr>
          <a:xfrm>
            <a:off x="11722608" y="6391656"/>
            <a:ext cx="173736" cy="173736"/>
          </a:xfrm>
          <a:prstGeom prst="rect">
            <a:avLst/>
          </a:prstGeom>
          <a:solidFill>
            <a:srgbClr val="7C4DE8"/>
          </a:solidFill>
          <a:ln/>
        </p:spPr>
        <p:txBody>
          <a:bodyPr/>
          <a:lstStyle/>
          <a:p>
            <a:endParaRPr lang="en-IN"/>
          </a:p>
        </p:txBody>
      </p:sp>
      <p:sp>
        <p:nvSpPr>
          <p:cNvPr id="33" name="Shape 31"/>
          <p:cNvSpPr/>
          <p:nvPr/>
        </p:nvSpPr>
        <p:spPr>
          <a:xfrm>
            <a:off x="11769517" y="6438565"/>
            <a:ext cx="79919" cy="79919"/>
          </a:xfrm>
          <a:prstGeom prst="rect">
            <a:avLst/>
          </a:prstGeom>
          <a:solidFill>
            <a:srgbClr val="FFFFFF"/>
          </a:solidFill>
          <a:ln/>
        </p:spPr>
        <p:txBody>
          <a:bodyPr/>
          <a:lstStyle/>
          <a:p>
            <a:endParaRPr lang="en-IN"/>
          </a:p>
        </p:txBody>
      </p:sp>
      <p:sp>
        <p:nvSpPr>
          <p:cNvPr id="34" name="Shape 32"/>
          <p:cNvSpPr/>
          <p:nvPr/>
        </p:nvSpPr>
        <p:spPr>
          <a:xfrm>
            <a:off x="11752143" y="6356909"/>
            <a:ext cx="29535" cy="34747"/>
          </a:xfrm>
          <a:prstGeom prst="rect">
            <a:avLst/>
          </a:prstGeom>
          <a:solidFill>
            <a:srgbClr val="7C4DE8"/>
          </a:solidFill>
          <a:ln/>
        </p:spPr>
        <p:txBody>
          <a:bodyPr/>
          <a:lstStyle/>
          <a:p>
            <a:endParaRPr lang="en-IN"/>
          </a:p>
        </p:txBody>
      </p:sp>
      <p:sp>
        <p:nvSpPr>
          <p:cNvPr id="35" name="Shape 33"/>
          <p:cNvSpPr/>
          <p:nvPr/>
        </p:nvSpPr>
        <p:spPr>
          <a:xfrm>
            <a:off x="11752143" y="6565392"/>
            <a:ext cx="29535" cy="34747"/>
          </a:xfrm>
          <a:prstGeom prst="rect">
            <a:avLst/>
          </a:prstGeom>
          <a:solidFill>
            <a:srgbClr val="7C4DE8"/>
          </a:solidFill>
          <a:ln/>
        </p:spPr>
        <p:txBody>
          <a:bodyPr/>
          <a:lstStyle/>
          <a:p>
            <a:endParaRPr lang="en-IN"/>
          </a:p>
        </p:txBody>
      </p:sp>
      <p:sp>
        <p:nvSpPr>
          <p:cNvPr id="36" name="Shape 34"/>
          <p:cNvSpPr/>
          <p:nvPr/>
        </p:nvSpPr>
        <p:spPr>
          <a:xfrm>
            <a:off x="11687861" y="6421191"/>
            <a:ext cx="34747" cy="29535"/>
          </a:xfrm>
          <a:prstGeom prst="rect">
            <a:avLst/>
          </a:prstGeom>
          <a:solidFill>
            <a:srgbClr val="7C4DE8"/>
          </a:solidFill>
          <a:ln/>
        </p:spPr>
        <p:txBody>
          <a:bodyPr/>
          <a:lstStyle/>
          <a:p>
            <a:endParaRPr lang="en-IN"/>
          </a:p>
        </p:txBody>
      </p:sp>
      <p:sp>
        <p:nvSpPr>
          <p:cNvPr id="37" name="Shape 35"/>
          <p:cNvSpPr/>
          <p:nvPr/>
        </p:nvSpPr>
        <p:spPr>
          <a:xfrm>
            <a:off x="11896344" y="6421191"/>
            <a:ext cx="34747" cy="29535"/>
          </a:xfrm>
          <a:prstGeom prst="rect">
            <a:avLst/>
          </a:prstGeom>
          <a:solidFill>
            <a:srgbClr val="7C4DE8"/>
          </a:solidFill>
          <a:ln/>
        </p:spPr>
        <p:txBody>
          <a:bodyPr/>
          <a:lstStyle/>
          <a:p>
            <a:endParaRPr lang="en-IN"/>
          </a:p>
        </p:txBody>
      </p:sp>
      <p:sp>
        <p:nvSpPr>
          <p:cNvPr id="38" name="Shape 36"/>
          <p:cNvSpPr/>
          <p:nvPr/>
        </p:nvSpPr>
        <p:spPr>
          <a:xfrm>
            <a:off x="11837274" y="6356909"/>
            <a:ext cx="29535" cy="34747"/>
          </a:xfrm>
          <a:prstGeom prst="rect">
            <a:avLst/>
          </a:prstGeom>
          <a:solidFill>
            <a:srgbClr val="7C4DE8"/>
          </a:solidFill>
          <a:ln/>
        </p:spPr>
        <p:txBody>
          <a:bodyPr/>
          <a:lstStyle/>
          <a:p>
            <a:endParaRPr lang="en-IN"/>
          </a:p>
        </p:txBody>
      </p:sp>
      <p:sp>
        <p:nvSpPr>
          <p:cNvPr id="39" name="Shape 37"/>
          <p:cNvSpPr/>
          <p:nvPr/>
        </p:nvSpPr>
        <p:spPr>
          <a:xfrm>
            <a:off x="11837274" y="6565392"/>
            <a:ext cx="29535" cy="34747"/>
          </a:xfrm>
          <a:prstGeom prst="rect">
            <a:avLst/>
          </a:prstGeom>
          <a:solidFill>
            <a:srgbClr val="7C4DE8"/>
          </a:solidFill>
          <a:ln/>
        </p:spPr>
        <p:txBody>
          <a:bodyPr/>
          <a:lstStyle/>
          <a:p>
            <a:endParaRPr lang="en-IN"/>
          </a:p>
        </p:txBody>
      </p:sp>
      <p:sp>
        <p:nvSpPr>
          <p:cNvPr id="40" name="Shape 38"/>
          <p:cNvSpPr/>
          <p:nvPr/>
        </p:nvSpPr>
        <p:spPr>
          <a:xfrm>
            <a:off x="11687861" y="6506322"/>
            <a:ext cx="34747" cy="29535"/>
          </a:xfrm>
          <a:prstGeom prst="rect">
            <a:avLst/>
          </a:prstGeom>
          <a:solidFill>
            <a:srgbClr val="7C4DE8"/>
          </a:solidFill>
          <a:ln/>
        </p:spPr>
        <p:txBody>
          <a:bodyPr/>
          <a:lstStyle/>
          <a:p>
            <a:endParaRPr lang="en-IN"/>
          </a:p>
        </p:txBody>
      </p:sp>
      <p:sp>
        <p:nvSpPr>
          <p:cNvPr id="41" name="Shape 39"/>
          <p:cNvSpPr/>
          <p:nvPr/>
        </p:nvSpPr>
        <p:spPr>
          <a:xfrm>
            <a:off x="11896344" y="6506322"/>
            <a:ext cx="34747" cy="29535"/>
          </a:xfrm>
          <a:prstGeom prst="rect">
            <a:avLst/>
          </a:prstGeom>
          <a:solidFill>
            <a:srgbClr val="7C4DE8"/>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2133</Words>
  <Application>Microsoft Macintosh PowerPoint</Application>
  <PresentationFormat>Widescreen</PresentationFormat>
  <Paragraphs>174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AWS Student Builder Groups, 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FRONTIER 2026 - Submission Template</dc:title>
  <dc:subject>PptxGenJS Presentation</dc:subject>
  <dc:creator>AWS Student Builder Groups - VIT Chennai</dc:creator>
  <cp:lastModifiedBy>Ragav Hariharan T</cp:lastModifiedBy>
  <cp:revision>2</cp:revision>
  <dcterms:created xsi:type="dcterms:W3CDTF">2026-07-27T09:18:57Z</dcterms:created>
  <dcterms:modified xsi:type="dcterms:W3CDTF">2026-07-29T14:30:30Z</dcterms:modified>
</cp:coreProperties>
</file>